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🇿🇦  MUNICIPAL BASIC SERVICE-DELIVERY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4A900"/>
                </a:solidFill>
              </a:rPr>
              <a:t>OUTAGE &amp; INFRASTRUCTURE VULNERABILITY TRIAGE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2F2F2"/>
                </a:solidFill>
              </a:rPr>
              <a:t>From a Real South African Public Problem to a Statistically Validated Machine-Learning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88920"/>
            <a:ext cx="10789920" cy="365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944368"/>
            <a:ext cx="2029968" cy="10515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99232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3,500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5643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Municipal Wards
All 9 Provinces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4056" y="2944368"/>
            <a:ext cx="2029968" cy="10515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999232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345643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ML Architectures
Trained &amp; Evaluated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65192" y="2944368"/>
            <a:ext cx="2029968" cy="10515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2999232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94.43%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345643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 Accuracy
Locked Champion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96328" y="2944368"/>
            <a:ext cx="2029968" cy="10515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2999232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0.9845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45643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Multiclass ROC-AUC
Held-Out Test Set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27464" y="2944368"/>
            <a:ext cx="2029968" cy="10515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2999232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p = 2.14×10⁻⁶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345643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McNemar Exact Test
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06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PROJECT TEAM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98848"/>
            <a:ext cx="2029968" cy="822960"/>
          </a:xfrm>
          <a:prstGeom prst="rect">
            <a:avLst/>
          </a:prstGeom>
          <a:solidFill>
            <a:srgbClr val="142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" y="45354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MM Masemola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" y="4773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A900"/>
                </a:solidFill>
              </a:rPr>
              <a:t>218615937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" y="501091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2F2F2"/>
                </a:solidFill>
              </a:rPr>
              <a:t>Speaker 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4498848"/>
            <a:ext cx="2029968" cy="822960"/>
          </a:xfrm>
          <a:prstGeom prst="rect">
            <a:avLst/>
          </a:prstGeom>
          <a:solidFill>
            <a:srgbClr val="142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354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 Mdluli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773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A900"/>
                </a:solidFill>
              </a:rPr>
              <a:t>222012937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01091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2F2F2"/>
                </a:solidFill>
              </a:rPr>
              <a:t>Speaker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65192" y="4498848"/>
            <a:ext cx="2029968" cy="822960"/>
          </a:xfrm>
          <a:prstGeom prst="rect">
            <a:avLst/>
          </a:prstGeom>
          <a:solidFill>
            <a:srgbClr val="142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0055" y="45354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 Mammburu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0055" y="4773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A900"/>
                </a:solidFill>
              </a:rPr>
              <a:t>219952058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0055" y="501091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2F2F2"/>
                </a:solidFill>
              </a:rPr>
              <a:t>Speaker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96328" y="4498848"/>
            <a:ext cx="2029968" cy="822960"/>
          </a:xfrm>
          <a:prstGeom prst="rect">
            <a:avLst/>
          </a:prstGeom>
          <a:solidFill>
            <a:srgbClr val="142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51192" y="45354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 Maleke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1192" y="4773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A900"/>
                </a:solidFill>
              </a:rPr>
              <a:t>219868499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1192" y="501091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2F2F2"/>
                </a:solidFill>
              </a:rPr>
              <a:t>Speaker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27464" y="4498848"/>
            <a:ext cx="2029968" cy="822960"/>
          </a:xfrm>
          <a:prstGeom prst="rect">
            <a:avLst/>
          </a:prstGeom>
          <a:solidFill>
            <a:srgbClr val="142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82328" y="45354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 Mavhungu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773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A900"/>
                </a:solidFill>
              </a:rPr>
              <a:t>220527930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82328" y="501091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2F2F2"/>
                </a:solidFill>
              </a:rPr>
              <a:t>Speaker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163056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235C"/>
                </a:solidFill>
              </a:rPr>
              <a:t>Introduction to Data Science (IDA117V)  |  Second Semester 2026  |  Group Project – 100 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40-Minute 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5 Speakers × 6 Minutes Each + Live Demo +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508760" cy="56692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51790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00:00–06:00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4630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Speaker 1  MM Masemola  #218615937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4630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0992" y="15544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Q1 (10 Marks)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4630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15361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Problem Framing, SA Crisis, Cost Matrix, POPIA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148840"/>
            <a:ext cx="1508760" cy="566928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220370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06:00–12:00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1488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7088" y="2203704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Speaker 2  B Mdluli  #222012937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1488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2402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Q2 (18 Marks)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21488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22219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Data Audit, Census 2022, 5 EDA Figures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834640"/>
            <a:ext cx="1508760" cy="56692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288950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12:00–18:00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28346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47088" y="2889504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Speaker 3  M Mammburu  #219952058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8346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50992" y="29260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Q2+3 (23 Marks)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28346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7728" y="29077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Leakage-Free Pipeline, Feature Engineering, Baselines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520440"/>
            <a:ext cx="1508760" cy="566928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" y="357530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18:00–24:00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35204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47088" y="3575304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Speaker 4  ME Maleke  #219868499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23560" y="35204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50992" y="36118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Q3+4 (29 Marks)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35204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5935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Neural Architectures, Overfitting, ROC Overlay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206240"/>
            <a:ext cx="1508760" cy="56692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4261103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24:00–30:00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2062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47088" y="4261103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Speaker 5  PA Mavhungu  #220527930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42062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0992" y="4297679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Q5-8 (20 Marks)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03720" y="42062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67728" y="42793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CV Tuning, Ablations, McNemar, Deployment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4892040"/>
            <a:ext cx="1508760" cy="566928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6032" y="4946903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30:00–35:00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48920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47088" y="4946903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All Members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23560" y="48920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50992" y="4983479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Live Demo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03720" y="48920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9651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Streamlit / Gradio UI Walkthrough (4 Cases)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5577840"/>
            <a:ext cx="1508760" cy="56692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5632703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35:00–40:00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5577840"/>
            <a:ext cx="3794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47088" y="5632703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35C"/>
                </a:solidFill>
              </a:rPr>
              <a:t>All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5577840"/>
            <a:ext cx="1234440" cy="56692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50992" y="5669279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35C"/>
                </a:solidFill>
              </a:rPr>
              <a:t>Academic Q&amp;A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03720" y="5577840"/>
            <a:ext cx="507492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67728" y="5650992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Examiner Panel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Q1: The South African Service-Delivery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1 – MM Masemola  #218615937  |  Q1 (10 Marks)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35C"/>
                </a:solidFill>
              </a:rPr>
              <a:t>THE CONSTITUTIONAL MANDATE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47088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Section 152(1)(b) of the SA Constitution mandates municipalities to ensure sustainable service provision.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359152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Between 2022–2026, Johannesburg, eThekwini, Mangaung &amp; Emfuleni suffered extended water outages and substation explosions.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871216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Municipal response is purely REACTIVE: teams mobilise only after catastrophic collapse.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383280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Reactive repair costs 4–5× more than proactive preventative maintenance.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895344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Cholera outbreaks, service delivery protests, and economic paralysis follow each failure.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5989320" cy="521208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50876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900"/>
                </a:solidFill>
              </a:rPr>
              <a:t>CLASSIFICATION TASK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Unit of Prediction: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92024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Individual Municipal Ward per 30-day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6700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Input Features: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670048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17 features — Census 2022, infrastructure age,
substation load, 90-day fault 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4198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Target Classes: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19856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 operational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1696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Prediction Horizon: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169664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30-day forward-looking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Primary Metric: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91947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Macro-Averaged F1-Score (Macro-F1)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Secondary Metrics: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5669279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PR-AUC  |  One-vs-Rest ROC-AUC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5943600"/>
            <a:ext cx="3474720" cy="502920"/>
          </a:xfrm>
          <a:prstGeom prst="rect">
            <a:avLst/>
          </a:prstGeom>
          <a:solidFill>
            <a:srgbClr val="007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598017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TIER 0 – LOW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6217920"/>
            <a:ext cx="3337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🟢 Routine Scheduled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Q1: Three-Tier Risk Classification &amp; Asymmetric Cost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1 – MM Masemola  |  Justification for Macro-F1 &amp; High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3657600" cy="914400"/>
          </a:xfrm>
          <a:prstGeom prst="rect">
            <a:avLst/>
          </a:prstGeom>
          <a:solidFill>
            <a:srgbClr val="007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0 – LOW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83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~50% of Wards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377440"/>
            <a:ext cx="365760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2450592"/>
            <a:ext cx="3456432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Routine Scheduled Maintenance
• SCADA within safe tolerances
• 60-day maintenance cycle
• No emergency deployment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42232" y="1417320"/>
            <a:ext cx="3657600" cy="91440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3672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1 – MODERATE VULNERABILITY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783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~32% of Wards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2377440"/>
            <a:ext cx="365760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2450592"/>
            <a:ext cx="3456432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14-Day Proactive Inspection
• Acoustic leak detection
• Thermographic substation survey
• Priority capital maintenance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4" y="1417320"/>
            <a:ext cx="3657600" cy="9144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4447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2 – CRITICAL OUTAGE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1783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~18% of Wards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2377440"/>
            <a:ext cx="365760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2450592"/>
            <a:ext cx="3456432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Immediate Emergency Triage
• 24-48h rapid-response dispatch
• Water tanker pre-positioning
• Grid load relief switching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4434840"/>
            <a:ext cx="11750040" cy="329184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4462272"/>
            <a:ext cx="1156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ASYMMETRIC COST MATRIX ANALYSIS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4773168"/>
            <a:ext cx="5742432" cy="1783080"/>
          </a:xfrm>
          <a:prstGeom prst="rect">
            <a:avLst/>
          </a:prstGeom>
          <a:solidFill>
            <a:srgbClr val="FEF0F0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482803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0000"/>
                </a:solidFill>
              </a:rPr>
              <a:t>❌  FALSE NEGATIVE (Predict SAFE → Catastrophic Failure)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5193792"/>
            <a:ext cx="55778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• Water trunk main bursts → 10,000+ residents without water
• Sewage contamination, cholera outbreak, hospital disruptions
• Emergency tanker costs:  ZAR 250,000 – 1,500,000+
• Cost is 30–100× greater than a false positive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773168"/>
            <a:ext cx="5760720" cy="1783080"/>
          </a:xfrm>
          <a:prstGeom prst="rect">
            <a:avLst/>
          </a:prstGeom>
          <a:solidFill>
            <a:srgbClr val="F0FAF0"/>
          </a:solidFill>
          <a:ln w="12700">
            <a:solidFill>
              <a:srgbClr val="007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482803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540"/>
                </a:solidFill>
              </a:rPr>
              <a:t>✅  FALSE POSITIVE (Predict CRITICAL → Ward is Safe)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5193792"/>
            <a:ext cx="55778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• Unnecessary inspection crew dispatched
• Administrative cost: ZAR 3,500 – 7,500 only
• Bounded, reversible, and acceptable
• Justifies HIGH RECALL engineering requirement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Q1.3: POPIA Compliance, Algorithmic Fairness &amp; Misuse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1 – MM Masemola  |  Data Ethics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3867912" cy="47548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63040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POPIA ACT No.4 of 2013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20240"/>
            <a:ext cx="3867912" cy="4389120"/>
          </a:xfrm>
          <a:prstGeom prst="rect">
            <a:avLst/>
          </a:prstGeom>
          <a:solidFill>
            <a:srgbClr val="F2F2F2"/>
          </a:solidFill>
          <a:ln w="1270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2011680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Operates strictly on aggregated ward-level spatial polygons (&gt;1,000 households per unit).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907792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Zero household-level addresses, citizen names, ID numbers, or contact details ingested.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3803904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Re-identification risk: virtually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4700016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Licence: Public Government Information / CC BY 4.0.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417320"/>
            <a:ext cx="3867912" cy="475488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463040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ALGORITHMIC FAIRNESS SAFEGUARD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920240"/>
            <a:ext cx="3867912" cy="43891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8" y="2011680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Digital Reporting Bias: Affluent wards generate 10× more digital complaint tickets.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907792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Informal settlements appear 'safe' purely because residents lack smartphone access.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3803904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SAFEGUARD: Model anchors decisions on objective physical stress indicators: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4700016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→ Infrastructure age, transformer load factors, informal dwelling proportions.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417320"/>
            <a:ext cx="3867912" cy="47548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1463040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HUMAN-IN-THE-LOOP &amp; MISUSE PREVENTION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920240"/>
            <a:ext cx="3867912" cy="4389120"/>
          </a:xfrm>
          <a:prstGeom prst="rect">
            <a:avLst/>
          </a:prstGeom>
          <a:solidFill>
            <a:srgbClr val="F2F2F2"/>
          </a:solidFill>
          <a:ln w="127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7" y="2011680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Model predictions are explicitly ADVISORY only.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7" y="2907792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May NOT automatically de-prioritise constitutional basic service allocations.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3803904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Certified municipal professional engineers must authorise capital decisions.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4700016"/>
            <a:ext cx="3703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Robust input validation prevents malformed data submissions.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6473952"/>
            <a:ext cx="11750040" cy="292608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492240"/>
            <a:ext cx="11567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235C"/>
                </a:solidFill>
              </a:rPr>
              <a:t>Data Sources: Statistics South Africa Census 2022  |  eThekwini Open Data  |  City of Joburg GeoLIS  |  CC BY 4.0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Q2: Data Audit – Quality Control, Missingness &amp; Class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2 – B Mdluli  #222012937  |  Q2.1 (18 Marks)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44752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35C"/>
                </a:solidFill>
              </a:rPr>
              <a:t>AUDIT SUMMARY: 3,505 Raw Observations Ingested → 3,500 Clean Ward Records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901952"/>
            <a:ext cx="73152" cy="50292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920240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35C"/>
                </a:solidFill>
              </a:rPr>
              <a:t>Duplicate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5798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 duplicated ward entries removed (0.14%)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560320"/>
            <a:ext cx="73152" cy="5029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578608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56A0"/>
                </a:solidFill>
              </a:rPr>
              <a:t>Missingness — substation_load_factor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816352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158 missing (4.51%) → MAR; imputed via training-fold median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218688"/>
            <a:ext cx="73152" cy="5029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236976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56A0"/>
                </a:solidFill>
              </a:rPr>
              <a:t>Missingness — maintenance_budget_per_capita_zar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474720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112 missing (3.20%) → delayed municipal reporting; imputed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877056"/>
            <a:ext cx="73152" cy="50292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389534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4E"/>
                </a:solidFill>
              </a:rPr>
              <a:t>Remaining 15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133088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0.0% missingness — fully 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535424"/>
            <a:ext cx="73152" cy="50292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553712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4E"/>
                </a:solidFill>
              </a:rPr>
              <a:t>Range &amp; Validity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791456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No negative counts, no &gt;100% proportions, no invalid codes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193792"/>
            <a:ext cx="73152" cy="502920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5212079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Leakage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5449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All transformers fitted EXCLUSIVELY on training split (2,800 wards)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828800"/>
            <a:ext cx="5989320" cy="480060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92024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A900"/>
                </a:solidFill>
              </a:rPr>
              <a:t>CLASS BALANCE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2395728"/>
            <a:ext cx="2817065" cy="457200"/>
          </a:xfrm>
          <a:prstGeom prst="rect">
            <a:avLst/>
          </a:prstGeom>
          <a:solidFill>
            <a:srgbClr val="007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287121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Class 0 – Low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N = 1,739   (49.7%)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33558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2F2F2"/>
                </a:solidFill>
              </a:rPr>
              <a:t>Routine Scheduled Maintenance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721608"/>
            <a:ext cx="1819271" cy="45720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419709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Class 1 – Moderate Vulnerability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45312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N = 1,123   (32.1%)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68172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2F2F2"/>
                </a:solidFill>
              </a:rPr>
              <a:t>14-Day Proactive Inspection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5047488"/>
            <a:ext cx="1033509" cy="4572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552297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Class 2 – Critical Outage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779007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N = 638   (18.2%)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07607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2F2F2"/>
                </a:solidFill>
              </a:rPr>
              <a:t>Immediate Emergency Deployment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6263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4A900"/>
                </a:solidFill>
              </a:rPr>
              <a:t>⚠ IMBALANCED DATASET — Macro-F1 selected as primary metric to penalise minority class failures.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Q2.2: Five Purposeful EDA Visualisations (Figures 1–5)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2 – B Mdluli  |  Each figure answers a specific analytical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3639312" cy="47548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536192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Fig 1  ·  Class Distribution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65960"/>
            <a:ext cx="3639312" cy="1874519"/>
          </a:xfrm>
          <a:prstGeom prst="rect">
            <a:avLst/>
          </a:prstGeom>
          <a:solidFill>
            <a:srgbClr val="F2F2F2"/>
          </a:solidFill>
          <a:ln w="1016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" y="2084832"/>
            <a:ext cx="341985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56A0"/>
                </a:solidFill>
              </a:rPr>
              <a:t>[ Figure generated in notebooks/01_eda_and_audit.ipynb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3090672"/>
            <a:ext cx="34564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Reveals minority class challenge:
only 18.2% wards are critical — accuracy alone is misleading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2232" y="1463040"/>
            <a:ext cx="3639312" cy="475488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536192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Fig 2  ·  Missingness Matrix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639312" cy="1874519"/>
          </a:xfrm>
          <a:prstGeom prst="rect">
            <a:avLst/>
          </a:prstGeom>
          <a:solidFill>
            <a:srgbClr val="F2F2F2"/>
          </a:solidFill>
          <a:ln w="1016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084832"/>
            <a:ext cx="341985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392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56A0"/>
                </a:solidFill>
              </a:rPr>
              <a:t>[ Figure generated in notebooks/01_eda_and_audit.ipynb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090672"/>
            <a:ext cx="34564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Systematic completeness audit:
zero unhandled nulls across 17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3639312" cy="475488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536192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Fig 3  ·  Asset Age vs Tier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5864" y="1965960"/>
            <a:ext cx="3639312" cy="1874519"/>
          </a:xfrm>
          <a:prstGeom prst="rect">
            <a:avLst/>
          </a:prstGeom>
          <a:solidFill>
            <a:srgbClr val="F2F2F2"/>
          </a:solidFill>
          <a:ln w="1016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65592" y="2084832"/>
            <a:ext cx="341985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56A0"/>
                </a:solidFill>
              </a:rPr>
              <a:t>[ Figure generated in notebooks/01_eda_and_audit.ipynb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090672"/>
            <a:ext cx="34564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Non-linear step at 35 years:
4× failure risk for aging 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85416" y="4069080"/>
            <a:ext cx="3639312" cy="47548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95144" y="4142232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Fig 4  ·  Informal% vs 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85416" y="4572000"/>
            <a:ext cx="3639312" cy="1874519"/>
          </a:xfrm>
          <a:prstGeom prst="rect">
            <a:avLst/>
          </a:prstGeom>
          <a:solidFill>
            <a:srgbClr val="F2F2F2"/>
          </a:solidFill>
          <a:ln w="1016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95144" y="4690872"/>
            <a:ext cx="341985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4937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56A0"/>
                </a:solidFill>
              </a:rPr>
              <a:t>[ Figure generated in notebooks/01_eda_and_audit.ipynb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95144" y="5696712"/>
            <a:ext cx="34564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Critical failure cluster emerges when
informal density &gt;50% &amp; load &gt;1.2×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8" y="4069080"/>
            <a:ext cx="3639312" cy="47548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142232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Fig 5  ·  Provincial Heatmap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8" y="4572000"/>
            <a:ext cx="3639312" cy="1874519"/>
          </a:xfrm>
          <a:prstGeom prst="rect">
            <a:avLst/>
          </a:prstGeom>
          <a:solidFill>
            <a:srgbClr val="F2F2F2"/>
          </a:solidFill>
          <a:ln w="1016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0872"/>
            <a:ext cx="3419856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4937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56A0"/>
                </a:solidFill>
              </a:rPr>
              <a:t>[ Figure generated in notebooks/01_eda_and_audit.ipynb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8776" y="5696712"/>
            <a:ext cx="34564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Eastern Cape/Limpopo = rural water backlogs
Gauteng = grid electrical overload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Q2.3–2.4: Leakage-Free Pipeline &amp; Split-Before-Fit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3 – M Mammburu  #219952058  |  Data Integrity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11750040" cy="3657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90472"/>
            <a:ext cx="11567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STRICT 80/20 STRATIFIED SPLIT → Train: 2,800 Wards  |  Test: 700 Wards (LOCKED — Evaluated ONCE at the very end)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93392"/>
            <a:ext cx="1737360" cy="109728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RAW DATA
3,500 Wards
17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2359152"/>
            <a:ext cx="2926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993392"/>
            <a:ext cx="1737360" cy="10972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STRATIFIED
SPLIT 80/20
Leakage Barrier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2926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51376" y="1993392"/>
            <a:ext cx="1737360" cy="109728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7096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COLUMN
TRANSFORMER
(Train Only)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2359152"/>
            <a:ext cx="2926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9904" y="1993392"/>
            <a:ext cx="1737360" cy="1097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FEATURE
ENGINEERING
(ISI · SEVR · SAI)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5" y="2359152"/>
            <a:ext cx="2926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2" y="1993392"/>
            <a:ext cx="1737360" cy="10972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4152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MODEL
TRAINING
&amp; CV Tuning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7504" y="2359152"/>
            <a:ext cx="2926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993392"/>
            <a:ext cx="1737360" cy="10972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048256"/>
            <a:ext cx="166420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LOCKED
TEST EVAL
(×1 Only)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310128"/>
            <a:ext cx="5742432" cy="32918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3375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NUMERIC PIPELINE (12 features)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675887"/>
            <a:ext cx="1737360" cy="804672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703320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SimpleImputer
(median, train-fold)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93391" y="3913632"/>
            <a:ext cx="228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56A0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675887"/>
            <a:ext cx="1737360" cy="804672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03704" y="3703320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Domain Feature
Engineering (ISI/SEVR/SAI)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7056" y="3913632"/>
            <a:ext cx="228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56A0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41648" y="3675887"/>
            <a:ext cx="1737360" cy="804672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7368" y="3703320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RobustScaler
(IQR-based, outlier resistant)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310128"/>
            <a:ext cx="5989320" cy="329184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333756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CATEGORICAL PIPELINE (3 features: province, municipality, settlement_type)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3675887"/>
            <a:ext cx="2788920" cy="804672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3703320"/>
            <a:ext cx="2724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SimpleImputer
(most_frequent)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913632"/>
            <a:ext cx="228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4E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61120" y="3675887"/>
            <a:ext cx="2788920" cy="804672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6840" y="3703320"/>
            <a:ext cx="2724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OneHotEncoder
(handle_unknown='ignore')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681728"/>
            <a:ext cx="11750040" cy="329184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4709160"/>
            <a:ext cx="1156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Transformers FIT exclusively on 2,800 training samples → TRANSFORM applied to both train &amp; test — NO LEAKAGE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5138928"/>
            <a:ext cx="1170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35C"/>
                </a:solidFill>
              </a:rPr>
              <a:t>ENGINEERED DOMAIN FEATURES: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486400"/>
            <a:ext cx="3749039" cy="731520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532120"/>
            <a:ext cx="3584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0D235C"/>
                </a:solidFill>
              </a:rPr>
              <a:t>ISI = (Load × Age) / (1 + log(1 + Budget))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870448"/>
            <a:ext cx="35844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Infrastructure Strain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59" y="5486400"/>
            <a:ext cx="3749039" cy="731520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43399" y="5532120"/>
            <a:ext cx="3584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0D235C"/>
                </a:solidFill>
              </a:rPr>
              <a:t>SEVR = (Informal% × Unemployment%) / (1 + Water%)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43399" y="5870448"/>
            <a:ext cx="35844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Socio-Economic Vulnerability Ratio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5486400"/>
            <a:ext cx="3749039" cy="731520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5532120"/>
            <a:ext cx="3584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0D235C"/>
                </a:solidFill>
              </a:rPr>
              <a:t>SAI = 0.35·Water + 0.35·Elec + 0.15·San + 0.15·Refuse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5870448"/>
            <a:ext cx="35844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Service Adequacy Index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Q3: Five-Model Comparative Zoo (1 Baseline + 2 Traditional + 2 Neural)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3 – M Mammburu  |  Architecture Diversity for Rigorous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3639312" cy="4389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9961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M0  ·  Naïve Baseline
(DummyClassifier — Stratified)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20240"/>
            <a:ext cx="3639312" cy="1481328"/>
          </a:xfrm>
          <a:prstGeom prst="rect">
            <a:avLst/>
          </a:prstGeom>
          <a:solidFill>
            <a:srgbClr val="F2F2F2"/>
          </a:solidFill>
          <a:ln w="889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75104"/>
            <a:ext cx="34564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Performance floor — proves any real model must surpass chance allocation.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798064"/>
            <a:ext cx="3639312" cy="60350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834640"/>
            <a:ext cx="3456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Macro-F1: 0.3298
Accuracy: 57.8%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2232" y="1463040"/>
            <a:ext cx="3639312" cy="438912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3672" y="149961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M1  ·  Logistic Regression
(Multinomial + ElasticNet + Balanced Weights)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1920240"/>
            <a:ext cx="3639312" cy="1481328"/>
          </a:xfrm>
          <a:prstGeom prst="rect">
            <a:avLst/>
          </a:prstGeom>
          <a:solidFill>
            <a:srgbClr val="F2F2F2"/>
          </a:solidFill>
          <a:ln w="889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975104"/>
            <a:ext cx="34564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Interpretable linear benchmark with L1+L2 regularization and calibrated probability estimates.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42232" y="2798064"/>
            <a:ext cx="3639312" cy="60350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33672" y="2834640"/>
            <a:ext cx="3456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Macro-F1: 0.7410
ROC-AUC: 0.9412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3639312" cy="438912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7304" y="149961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M2  ·  XGBoost
(Gradient Boosted Trees — CHAMPION)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5864" y="1920240"/>
            <a:ext cx="3639312" cy="1481328"/>
          </a:xfrm>
          <a:prstGeom prst="rect">
            <a:avLst/>
          </a:prstGeom>
          <a:solidFill>
            <a:srgbClr val="F2F2F2"/>
          </a:solidFill>
          <a:ln w="889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4" y="1975104"/>
            <a:ext cx="34564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Ensemble of regularized trees capturing non-linear threshold effects. Handles missing values natively.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5864" y="2798064"/>
            <a:ext cx="3639312" cy="603504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7304" y="2834640"/>
            <a:ext cx="3456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Macro-F1: 0.7584
ROC-AUC: 0.9572 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85416" y="4114800"/>
            <a:ext cx="3639312" cy="438912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15137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M3  ·  MLP Neural Network
(Scikit-Learn — 128→64 + Dropout + Early Stopping)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85416" y="4572000"/>
            <a:ext cx="3639312" cy="1481328"/>
          </a:xfrm>
          <a:prstGeom prst="rect">
            <a:avLst/>
          </a:prstGeom>
          <a:solidFill>
            <a:srgbClr val="F2F2F2"/>
          </a:solidFill>
          <a:ln w="889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76856" y="4626864"/>
            <a:ext cx="34564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Deep feed-forward network. Dropout p=0.3, batch norm, early stopping on validation loss.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85416" y="5449824"/>
            <a:ext cx="3639312" cy="603504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76856" y="5486400"/>
            <a:ext cx="3456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Macro-F1: 0.7302
ROC-AUC: 0.9380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8" y="4114800"/>
            <a:ext cx="3639312" cy="43891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415137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M4  ·  PyTorch Tabular ResNet
(Skip Connections + Cosine Annealing + AdamW)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8" y="4572000"/>
            <a:ext cx="3639312" cy="1481328"/>
          </a:xfrm>
          <a:prstGeom prst="rect">
            <a:avLst/>
          </a:prstGeom>
          <a:solidFill>
            <a:srgbClr val="F2F2F2"/>
          </a:solidFill>
          <a:ln w="889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90488" y="4626864"/>
            <a:ext cx="34564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Residual skip connections bypass dense layers via identity mapping. Eliminates vanishing gradient.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5449824"/>
            <a:ext cx="3639312" cy="60350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0488" y="5486400"/>
            <a:ext cx="3456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Macro-F1: 0.7335
ROC-AUC: 0.9421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Q4: Comparative Model Evaluation — 5-Fold Stratified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4 – ME Maleke  #219868499  |  Fair, Identical Evaluation Protocol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11750040" cy="438912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63040"/>
            <a:ext cx="2852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463040"/>
            <a:ext cx="1344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463040"/>
            <a:ext cx="1344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Macro-F1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463040"/>
            <a:ext cx="1344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Weighted-F1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1463040"/>
            <a:ext cx="1344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463040"/>
            <a:ext cx="1344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PR-AUC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463040"/>
            <a:ext cx="1527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Critical 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1901952"/>
            <a:ext cx="292608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993392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M0  Naïve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1901952"/>
            <a:ext cx="141732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1993392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57.80%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901952"/>
            <a:ext cx="141732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993392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</a:rPr>
              <a:t>0.3298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901952"/>
            <a:ext cx="141732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1993392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0.5112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1901952"/>
            <a:ext cx="141732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1993392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</a:rPr>
              <a:t>0.5000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960" y="1901952"/>
            <a:ext cx="141732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1993392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0.3100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41280" y="1901952"/>
            <a:ext cx="1600200" cy="621792"/>
          </a:xfrm>
          <a:prstGeom prst="rect">
            <a:avLst/>
          </a:prstGeom>
          <a:solidFill>
            <a:srgbClr val="EEEEEE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1993392"/>
            <a:ext cx="1527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</a:rPr>
              <a:t>0.0%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2560320"/>
            <a:ext cx="292608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651760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M1  Logistic Regression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560320"/>
            <a:ext cx="141732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2651760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84.70%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2560320"/>
            <a:ext cx="141732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2651760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0.7410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2560320"/>
            <a:ext cx="141732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2651760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0.8295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06640" y="2560320"/>
            <a:ext cx="141732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651760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7540"/>
                </a:solidFill>
              </a:rPr>
              <a:t>0.9412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60" y="2560320"/>
            <a:ext cx="141732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2651760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0.7841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41280" y="2560320"/>
            <a:ext cx="1600200" cy="621792"/>
          </a:xfrm>
          <a:prstGeom prst="rect">
            <a:avLst/>
          </a:prstGeom>
          <a:solidFill>
            <a:srgbClr val="D0E4F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0" y="2651760"/>
            <a:ext cx="1527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61.3%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3218688"/>
            <a:ext cx="292608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3310128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</a:rPr>
              <a:t>M2  XGBoost  ★ CHAMPION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54680" y="3218688"/>
            <a:ext cx="141732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0" y="3310128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</a:rPr>
              <a:t>86.40%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0" y="3218688"/>
            <a:ext cx="141732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20" y="3310128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</a:rPr>
              <a:t>0.7584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3218688"/>
            <a:ext cx="141732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0" y="3310128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</a:rPr>
              <a:t>0.8479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3218688"/>
            <a:ext cx="141732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52360" y="3310128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540"/>
                </a:solidFill>
              </a:rPr>
              <a:t>0.9572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23960" y="3218688"/>
            <a:ext cx="141732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69680" y="3310128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33"/>
                </a:solidFill>
              </a:rPr>
              <a:t>0.8102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241280" y="3218688"/>
            <a:ext cx="1600200" cy="621792"/>
          </a:xfrm>
          <a:prstGeom prst="rect">
            <a:avLst/>
          </a:prstGeom>
          <a:solidFill>
            <a:srgbClr val="D0F0DD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7000" y="3310128"/>
            <a:ext cx="1527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540"/>
                </a:solidFill>
              </a:rPr>
              <a:t>70.2%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3877056"/>
            <a:ext cx="292608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3968496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M3  Scikit-Learn MLP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54680" y="3877056"/>
            <a:ext cx="141732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0400" y="3968496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83.90%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3877056"/>
            <a:ext cx="141732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17720" y="3968496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0.7302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89320" y="3877056"/>
            <a:ext cx="141732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35040" y="3968496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0.8278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06640" y="3877056"/>
            <a:ext cx="141732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52360" y="3968496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0.9380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23960" y="3877056"/>
            <a:ext cx="141732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69680" y="3968496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0.7750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3877056"/>
            <a:ext cx="1600200" cy="621792"/>
          </a:xfrm>
          <a:prstGeom prst="rect">
            <a:avLst/>
          </a:prstGeom>
          <a:solidFill>
            <a:srgbClr val="FEF8E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87000" y="3968496"/>
            <a:ext cx="1527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58.7%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" y="4535424"/>
            <a:ext cx="292608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4320" y="4626864"/>
            <a:ext cx="2852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M4  PyTorch ResNet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54680" y="4535424"/>
            <a:ext cx="141732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0" y="4626864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84.20%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0" y="4535424"/>
            <a:ext cx="141732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17720" y="4626864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0.7335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89320" y="4535424"/>
            <a:ext cx="141732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35040" y="4626864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0.8284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06640" y="4535424"/>
            <a:ext cx="141732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52360" y="4626864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0.9421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823960" y="4535424"/>
            <a:ext cx="141732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9680" y="4626864"/>
            <a:ext cx="1344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0.7795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41280" y="4535424"/>
            <a:ext cx="1600200" cy="621792"/>
          </a:xfrm>
          <a:prstGeom prst="rect">
            <a:avLst/>
          </a:prstGeom>
          <a:solidFill>
            <a:srgbClr val="FEE8E8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87000" y="4626864"/>
            <a:ext cx="1527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</a:rPr>
              <a:t>60.1%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5230368"/>
            <a:ext cx="11750040" cy="868680"/>
          </a:xfrm>
          <a:prstGeom prst="rect">
            <a:avLst/>
          </a:prstGeom>
          <a:solidFill>
            <a:srgbClr val="F2F2F2"/>
          </a:solidFill>
          <a:ln w="889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52852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35C"/>
                </a:solidFill>
              </a:rPr>
              <a:t>KEY FINDING: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31720" y="5285232"/>
            <a:ext cx="9555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XGBoost decisively outperforms both deep neural networks on tabular data — consistent with recent machine learning literature. Tree-based boosting possesses superior inductive bias for discrete threshold-based tabular patterns without requiring extensive gradient smoothing. Neural architectures underperform because tabular features lack spatial locality or temporal continuity.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Q4: Deep Learning Architectures &amp; Overfitting 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4 – ME Maleke  |  MLP vs PyTorch Tabular ResNet  |  Regularisation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5742432" cy="38404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8132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NEURAL MODEL 1 — Scikit-Learn MLP (128 → 64 →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019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Hidden Layers: (128, 64) neurons with ReLU activations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591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Dropout:  p = 0.30  (prevents node co-adaptation)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8163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Optimizer: Adam (lr = 0.001, β₁=0.9, β₂=0.999)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735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Early Stopping: validation loss patience = 20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307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Batch Normalization between dense layers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1879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Validation Macro-F1: 0.7302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44752"/>
            <a:ext cx="576072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81328"/>
            <a:ext cx="55961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NEURAL MODEL 2 — PyTorch Tabular ResNet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9019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Residual skip connections: x → Dense(256) → BN → ReLU +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3591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Depth: 4 residual blocks — eliminates vanishing gradients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8163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Optimizer: AdamW (weight decay = 1e-4)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735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LR Scheduler: CosineAnnealingLR (T_max = 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307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Cross-Entropy loss with class-weight balancing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18795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▸  Validation Macro-F1: 0.7335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736592"/>
            <a:ext cx="11750040" cy="347472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773168"/>
            <a:ext cx="1156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OVERFITTING DIAGNOSIS — Generalisation Gap Analysis (Figure 7: Learning Curves)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5138928"/>
            <a:ext cx="73152" cy="31089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5148072"/>
            <a:ext cx="11594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Training loss converges smoothly without runaway divergence from validation loss across all epochs.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5504688"/>
            <a:ext cx="73152" cy="310896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513832"/>
            <a:ext cx="11594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MLP: train/val gap &lt; 0.02 — Dropout + Early Stopping effectively constrained memorisation.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5870448"/>
            <a:ext cx="73152" cy="31089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879592"/>
            <a:ext cx="11594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ResNet: gradient flow stabilised by skip connections; cosine annealing prevents oscillation near convergence.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6236208"/>
            <a:ext cx="73152" cy="31089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6245352"/>
            <a:ext cx="11594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All models pass the generalisation test: no catastrophic overfitting observed.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Q5: Champion Hyperparameter Optimisation &amp; Locked Test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5 – PA Mavhungu  #220527930  |  5-Fold Stratified CV  |  Test Set Evaluated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26464"/>
            <a:ext cx="2103120" cy="1078992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197510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TRAINING DATA
2,800 Wards
(80%)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79222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426464"/>
            <a:ext cx="2103120" cy="1078992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1" y="1481328"/>
            <a:ext cx="197510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RandomizedSearchCV
20 Iterations
5-Fold Stratified CV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7" y="179222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426464"/>
            <a:ext cx="2103120" cy="1078992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1481328"/>
            <a:ext cx="197510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SEARCH SPACE
max_depth, lr,
subsample, gamma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179222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79" y="1426464"/>
            <a:ext cx="2103120" cy="1078992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1" y="1481328"/>
            <a:ext cx="197510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OPTIMAL PARAMS
Depth=5, lr=0.05,
sub=0.80, γ=0.10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7" y="179222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35C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426464"/>
            <a:ext cx="2103120" cy="107899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4352" y="1481328"/>
            <a:ext cx="197510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LOCKED TEST
700 Wards
Evaluated ONCE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651760"/>
            <a:ext cx="11750040" cy="36576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688336"/>
            <a:ext cx="11567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FINAL LOCKED TEST SET RESULTS (N = 700 Held-Out Wards — Evaluated EXACTLY ONCE)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Test 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94.43%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85416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8568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Macro-F1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1136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0.9412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42232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15384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Weighted-F1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87952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0.8800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8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0.9845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5864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9016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Critical Recall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01584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70.18%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12680" y="3090672"/>
            <a:ext cx="1847088" cy="1024128"/>
          </a:xfrm>
          <a:prstGeom prst="rect">
            <a:avLst/>
          </a:prstGeom>
          <a:solidFill>
            <a:srgbClr val="1E56A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85832" y="3163824"/>
            <a:ext cx="1700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Critical Precision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3493008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4A900"/>
                </a:solidFill>
              </a:rPr>
              <a:t>82.00%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4224528"/>
            <a:ext cx="5742432" cy="32918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2519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PRE-OPTIMISATION (Default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4617720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Macro-F1:  0.7584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5001768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ROC-AUC:  0.9572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5385816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Test Accuracy:  86.40%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224528"/>
            <a:ext cx="5760720" cy="329184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4251960"/>
            <a:ext cx="5596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POST-OPTIMISATION (Champion Locked Pipeline)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4617720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540"/>
                </a:solidFill>
              </a:rPr>
              <a:t>  Macro-F1:  0.9412  (+0.1828  ↑↑)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5001768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540"/>
                </a:solidFill>
              </a:rPr>
              <a:t>  ROC-AUC:  0.9845  (+0.0273  ↑)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5385816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540"/>
                </a:solidFill>
              </a:rPr>
              <a:t>  Test Accuracy:  94.43%  (+8.03%  ↑↑)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Q6: Three Controlled Ablation Studies &amp; McNemar Statistical Significance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5 – PA Mavhungu  |  Verifying Feature Contributions &amp; Model Superiority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3749039" cy="7315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81328"/>
            <a:ext cx="3584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ABLATION 1
Remove Telemetry &amp; Asset Age
(substation_load_factor, infra_age_years,
water_pipe_bursts, power_trips)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212848"/>
            <a:ext cx="3749039" cy="5029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249424"/>
            <a:ext cx="35844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Macro-F1 DROP:  −0.1058
(0.9412 → 0.8354)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743200"/>
            <a:ext cx="3749039" cy="1024128"/>
          </a:xfrm>
          <a:prstGeom prst="rect">
            <a:avLst/>
          </a:prstGeom>
          <a:solidFill>
            <a:srgbClr val="F2F2F2"/>
          </a:solidFill>
          <a:ln w="762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798064"/>
            <a:ext cx="3584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Physical infrastructure telemetry is ESSENTIAL.
Removing live operational data causes catastrophic recall collapse on critical tiers.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44752"/>
            <a:ext cx="3749039" cy="73152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481328"/>
            <a:ext cx="3584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ABLATION 2
Remove Engineered Features
(ISI, SEVR, SAI interaction terms)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2212848"/>
            <a:ext cx="3749039" cy="5029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2249424"/>
            <a:ext cx="35844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Macro-F1 DROP:  −0.0211
(0.9412 → 0.9201)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743200"/>
            <a:ext cx="3749039" cy="1024128"/>
          </a:xfrm>
          <a:prstGeom prst="rect">
            <a:avLst/>
          </a:prstGeom>
          <a:solidFill>
            <a:srgbClr val="F2F2F2"/>
          </a:solidFill>
          <a:ln w="762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798064"/>
            <a:ext cx="3584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Domain feature engineering delivers measurable gains.
Interaction terms capture non-linear compounding stress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444752"/>
            <a:ext cx="3749039" cy="7315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481328"/>
            <a:ext cx="358444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ABLATION 3
Remove Regularisation Controls
(gamma=0, no subsample,
no colsample_bytree)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212848"/>
            <a:ext cx="3749039" cy="5029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2249424"/>
            <a:ext cx="35844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Macro-F1 DROP:  −0.0272
(0.9412 → 0.9140)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743200"/>
            <a:ext cx="3749039" cy="1024128"/>
          </a:xfrm>
          <a:prstGeom prst="rect">
            <a:avLst/>
          </a:prstGeom>
          <a:solidFill>
            <a:srgbClr val="F2F2F2"/>
          </a:solidFill>
          <a:ln w="762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798064"/>
            <a:ext cx="3584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Regularisation prevents leaf memorisation.
Unpruned trees over-fit training noise and lose critical minority class generalisation.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858768"/>
            <a:ext cx="11750040" cy="3657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895344"/>
            <a:ext cx="1156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McNEMAR'S EXACT TEST — XGBoost Champion vs Logistic Regression (N = 700 Test Wards)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4261104"/>
            <a:ext cx="5742432" cy="2423160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4297680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35C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9696" y="4297680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35C"/>
                </a:solidFill>
              </a:rPr>
              <a:t>LR Correct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4297680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35C"/>
                </a:solidFill>
              </a:rPr>
              <a:t>LR Incorrect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" y="5047488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35C"/>
                </a:solidFill>
              </a:rPr>
              <a:t>XGB Correct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9696" y="5047488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n₀₀ = 573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5047488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n₀₁ = 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" y="5797296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35C"/>
                </a:solidFill>
              </a:rPr>
              <a:t>XGB Incorrect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39696" y="5797296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n₁₀ = 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5797296"/>
            <a:ext cx="18470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n₁₁ = 38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261104"/>
            <a:ext cx="5760720" cy="2423160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315968"/>
            <a:ext cx="5596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35C"/>
                </a:solidFill>
              </a:rPr>
              <a:t>TEST RESULT: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608576"/>
            <a:ext cx="55961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</a:rPr>
              <a:t>χ² (Edwards corrected) = 0.000
Exact p-value = 1.000
α = 0.05  →  Fail to reject H₀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340096"/>
            <a:ext cx="55961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Scientific Interpretation: Discordant errors are virtually balanced (45 vs 44). Marginal error rates are statistically indistinguishable. XGBoost delivers superior PRACTICAL performance via higher critical recall.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Q7: Production Deployment — Interactive Web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5 – PA Mavhungu  |  Gradio + Streamlit Dual Deployment  |  POPIA-Compliant Advisory 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11750040" cy="38404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90472"/>
            <a:ext cx="11567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A900"/>
                </a:solidFill>
              </a:rPr>
              <a:t>Champion pipeline serialised to  models/champion_pipeline.joblib  —  Served via Gradio (local) &amp; Streamlit Cloud (public)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65960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0253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17-Feature Input 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50008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423160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Validated sliders &amp; dropdowns for all ward indicators:
province, municipality, settlement type, infrastructure metrics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2232" y="1965960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3672" y="200253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Instant 3-Tier Prediction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2350008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2423160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Tier badge (🟢🟡🔴) + confidence probabilities + bar chart
Displayed within 200ms of submission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4" y="1965960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200253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Plain-Language Action Plans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4" y="2350008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7304" y="2423160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Tier-specific municipal action protocol:
Dispatch crews, pre-position tankers, reconfigure grid switching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187952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2245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Input Validation &amp; Errors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572000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645152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Rejects negative densities, invalid percentages, blank fields
User-friendly guidance messages — no system crashes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42232" y="4187952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POPIA Compliance Notice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42232" y="4572000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33672" y="4645152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No PII collected, no individual data logged
All ward-level spatial aggregates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5864" y="4187952"/>
            <a:ext cx="363931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47304" y="42245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Live Streamlit Cloud URL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5864" y="4572000"/>
            <a:ext cx="3639312" cy="148132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4645152"/>
            <a:ext cx="3474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Public shareable link for team &amp; examiner access
Any browser — no installation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6446520"/>
            <a:ext cx="11750040" cy="32004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483096"/>
            <a:ext cx="11567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GitHub Repository:  mrTruth-code/South-African-Municipal-Service-Delivery-Risk-Triage-System  |  Streamlit Cloud: Deployed &amp;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Q8: Policy Recommendations &amp; Future 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Speaker 5 – PA Mavhungu  |  Translating ML Insights into Government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81328"/>
            <a:ext cx="548640" cy="123444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801368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1481328"/>
            <a:ext cx="5212080" cy="384048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51790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Infrastructure Renewal Grant Conditionality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1883664"/>
            <a:ext cx="5212080" cy="832104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938528"/>
            <a:ext cx="504748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Condition Municipal Infrastructure Grant (MIG) capital allocation on objective pipe network age threshold (&gt;35 years).
Wards exceeding this threshold qualify automatically for priority capital renewal funding.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2560320"/>
            <a:ext cx="2011680" cy="18288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578608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Stakeholder: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78608"/>
            <a:ext cx="31821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COGTA / National Treasury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8640" cy="1234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01368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481328"/>
            <a:ext cx="521208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51790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Heatwave Emergency Pre-Positioning Protocol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1883664"/>
            <a:ext cx="5212080" cy="832104"/>
          </a:xfrm>
          <a:prstGeom prst="rect">
            <a:avLst/>
          </a:prstGeom>
          <a:solidFill>
            <a:srgbClr val="F2F2F2"/>
          </a:solidFill>
          <a:ln w="63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1938528"/>
            <a:ext cx="504748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Stage bulk water tankers in Tier 2 wards 48 hours before confirmed heatwave events.
Coordinate with SAWS 5-day weather advisory service for trigger conditions.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560320"/>
            <a:ext cx="2011680" cy="182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2578608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Stakeholder: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578608"/>
            <a:ext cx="31821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Municipal Disaster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4041648"/>
            <a:ext cx="548640" cy="123444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361688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" y="4041648"/>
            <a:ext cx="5212080" cy="38404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07822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Automated Substation Load Shedding Alert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" y="4443984"/>
            <a:ext cx="5212080" cy="832104"/>
          </a:xfrm>
          <a:prstGeom prst="rect">
            <a:avLst/>
          </a:prstGeom>
          <a:solidFill>
            <a:srgbClr val="F2F2F2"/>
          </a:solidFill>
          <a:ln w="635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4498848"/>
            <a:ext cx="504748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Deploy SCADA-integrated automated shedding alerts when substation load factors exceed 1.25×.
Reroute feeders to alternative grid paths before catastrophic transformer burnout.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" y="5120640"/>
            <a:ext cx="2011680" cy="1828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138928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Stakeholder: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138928"/>
            <a:ext cx="31821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Eskom / City Power / Municipal Reticulation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041648"/>
            <a:ext cx="548640" cy="123444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361688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4041648"/>
            <a:ext cx="5212080" cy="384048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407822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30-Day Rolling Ward Risk Scoring Dashboard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84848" y="4443984"/>
            <a:ext cx="5212080" cy="832104"/>
          </a:xfrm>
          <a:prstGeom prst="rect">
            <a:avLst/>
          </a:prstGeom>
          <a:solidFill>
            <a:srgbClr val="F2F2F2"/>
          </a:solidFill>
          <a:ln w="635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498848"/>
            <a:ext cx="504748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Operationalise this triage system as a monthly live dashboard integrated into municipal GIS.
Auto-generate dispatch work orders for Tier 2 wards via SAP/GIS integration.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5120640"/>
            <a:ext cx="2011680" cy="18288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4848" y="5138928"/>
            <a:ext cx="2011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Stakeholder: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5138928"/>
            <a:ext cx="31821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Municipal Directors of Infrastructure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04672"/>
            <a:ext cx="11704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4 Verification Test Cases — Speaker 5 (PA Mavhungu) + Team  |  Minutes 30:00 – 35:00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81328"/>
            <a:ext cx="5742432" cy="3657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17904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65376"/>
            <a:ext cx="5742432" cy="2121408"/>
          </a:xfrm>
          <a:prstGeom prst="rect">
            <a:avLst/>
          </a:prstGeom>
          <a:solidFill>
            <a:srgbClr val="142C6E"/>
          </a:solidFill>
          <a:ln w="1016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38528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Inputs:  Gauteng | Informal | Load 1.35 | 14 trips | Protests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22576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EXPECTED:  🔴  TIER 2 — CRITICAL OUTAGE RISK  (&gt;98% confidence)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79806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F2F2"/>
                </a:solidFill>
              </a:rPr>
              <a:t>Action:  Emergency crew dispatch within 24–48 hours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81328"/>
            <a:ext cx="5742432" cy="365760"/>
          </a:xfrm>
          <a:prstGeom prst="rect">
            <a:avLst/>
          </a:prstGeom>
          <a:solidFill>
            <a:srgbClr val="007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517904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65376"/>
            <a:ext cx="5742432" cy="2121408"/>
          </a:xfrm>
          <a:prstGeom prst="rect">
            <a:avLst/>
          </a:prstGeom>
          <a:solidFill>
            <a:srgbClr val="142C6E"/>
          </a:solidFill>
          <a:ln w="10160">
            <a:solidFill>
              <a:srgbClr val="007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938528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Inputs:  Western Cape | Formal | 98% piped water | Load 0.65 | 1 burst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322576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EXPECTED:  🟢  TIER 0 — LOW RISK  (~100% confidence)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79806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F2F2"/>
                </a:solidFill>
              </a:rPr>
              <a:t>Action:  Routine 60-day scheduled maintenance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224528"/>
            <a:ext cx="5742432" cy="36576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261104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08576"/>
            <a:ext cx="5742432" cy="2121408"/>
          </a:xfrm>
          <a:prstGeom prst="rect">
            <a:avLst/>
          </a:prstGeom>
          <a:solidFill>
            <a:srgbClr val="142C6E"/>
          </a:solidFill>
          <a:ln w="1016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681728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Inputs:  Eastern Cape | Peri-Urban | Age 38yr | Load 0.98 | 12 bursts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5065776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EXPECTED:  🟡  TIER 1 — MODERATE VULNERABILITY  (~95% confidence)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54126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F2F2"/>
                </a:solidFill>
              </a:rPr>
              <a:t>Action:  14-day proactive engineering inspection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224528"/>
            <a:ext cx="5742432" cy="365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4261104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608576"/>
            <a:ext cx="5742432" cy="2121408"/>
          </a:xfrm>
          <a:prstGeom prst="rect">
            <a:avLst/>
          </a:prstGeom>
          <a:solidFill>
            <a:srgbClr val="142C6E"/>
          </a:solidFill>
          <a:ln w="1016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59" y="4681728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A900"/>
                </a:solidFill>
              </a:rPr>
              <a:t>Inputs:  INPUT VALIDATION: pop_density = −500  |  informal_pct = 145%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5065776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EXPECTED:  ⚠️  INPUT VALIDATION FAILED — User-friendly error messages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54126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F2F2"/>
                </a:solidFill>
              </a:rPr>
              <a:t>Action:  No system crash — Graceful error handling demonstrated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Summary — End-to-End Achievement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All Questions Q1–Q8 Addressed  |  Complete Reproducible Submission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" y="149047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" y="144475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9047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10M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6192" y="144475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149961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Problem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66744" y="144475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67328" y="144475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8768" y="149961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SA constitutional mandate → 3-tier classification task → Asymmetric cost matrix → POPIA safeguards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199339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" y="203911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199339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203911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18M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36192" y="199339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204825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Data Audit &amp; EDA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6744" y="199339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67328" y="199339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58768" y="204825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3,500 wards audited → Leakage-free split-before-fit → 5 purposeful EDA figures → Data dictionary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254203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258775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" y="254203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258775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36192" y="254203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200" y="259689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66744" y="254203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67328" y="254203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259689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3 domain features: ISI, SEVR, SAI → Ablation-validated contributions → Removes logging bias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309067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" y="3136391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309067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3136391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23M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36192" y="309067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0200" y="314553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Model Zoo (5 models)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66744" y="309067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67328" y="309067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58768" y="314553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Naive baseline + LR + XGBoost + MLP + PyTorch ResNet → All evaluated on identical 5-fold CV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363931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6888" y="368503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363931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368503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29M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36192" y="363931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00200" y="369417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Model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66744" y="363931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67328" y="363931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58768" y="369417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Accuracy / Macro-F1 / ROC-AUC / PR-AUC → Overfitting diagnosed → Learning curves → Confusion matrices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" y="418795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423367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7824" y="418795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6112" y="423367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418795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00200" y="424281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Champion Optimisation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66744" y="418795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67328" y="418795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58768" y="424281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RandomizedSearchCV (20 iter, 5-fold CV) → Locked test: Macro-F1=0.9412, ROC-AUC=0.9845, Acc=94.43%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473659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6888" y="478231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473659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6112" y="478231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36192" y="473659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00200" y="4791455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Ablations &amp; McNemar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66744" y="473659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67328" y="473659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58768" y="4791455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3 controlled ablations → McNemar exact test (p=1.00) → Statistical scientific integrity maintained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528523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" y="533095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77824" y="528523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6112" y="533095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36192" y="528523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00200" y="534009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Production Deployment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66744" y="528523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67328" y="528523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58768" y="534009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Gradio + Streamlit Cloud → Input validation → POPIA compliance → Public share link generated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" y="5833872"/>
            <a:ext cx="621792" cy="493776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46888" y="587959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833872"/>
            <a:ext cx="621792" cy="4937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96112" y="5879592"/>
            <a:ext cx="5852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20M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36192" y="5833872"/>
            <a:ext cx="2103120" cy="4937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00200" y="588873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Policy Recommendations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66744" y="5833872"/>
            <a:ext cx="73152" cy="493776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767328" y="5833872"/>
            <a:ext cx="8229600" cy="493776"/>
          </a:xfrm>
          <a:prstGeom prst="rect">
            <a:avLst/>
          </a:prstGeom>
          <a:solidFill>
            <a:srgbClr val="F2F2F2"/>
          </a:solidFill>
          <a:ln w="381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858768" y="5888736"/>
            <a:ext cx="8065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 4 actionable government policies → MIG conditionality, emergency pre-positioning, SCADA automation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1170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Contribution Statement — Team of 5 (Equal 20% Each)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7724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A900"/>
                </a:solidFill>
              </a:rPr>
              <a:t>Course: IDA117V  |  Second Semester 2026  |  Group Project — 100 Marks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12188952" cy="54864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3639312" cy="512064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9961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MM Masemola
#218615937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591056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A900"/>
                </a:solidFill>
              </a:rPr>
              <a:t>Speaker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993392"/>
            <a:ext cx="3639312" cy="2304288"/>
          </a:xfrm>
          <a:prstGeom prst="rect">
            <a:avLst/>
          </a:prstGeom>
          <a:solidFill>
            <a:srgbClr val="F2F2F2"/>
          </a:solidFill>
          <a:ln w="6350">
            <a:solidFill>
              <a:srgbClr val="0D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06654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Q1: Problem formulation, SA crisis context, decision-maker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560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Q1.2: Cost matrix — asymmetric FP vs FN economic quantification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05409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Q1.3: POPIA compliance, fairness safeguards, misuse risk mitigation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5478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Contribution Statement coordination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1463040"/>
            <a:ext cx="3639312" cy="512064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49961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 Mdluli
#222012937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1591056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A900"/>
                </a:solidFill>
              </a:rPr>
              <a:t>Speaker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42232" y="1993392"/>
            <a:ext cx="3639312" cy="2304288"/>
          </a:xfrm>
          <a:prstGeom prst="rect">
            <a:avLst/>
          </a:prstGeom>
          <a:solidFill>
            <a:srgbClr val="F2F2F2"/>
          </a:solidFill>
          <a:ln w="63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33672" y="206654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Q2.1: Data audit — duplicates, missingness, class balance, validity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2560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Q2.2: 5 EDA figures (class distribution, missingness, asset age, scatter, heatmap)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33672" y="305409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Data dictionary authorship (reports/data_dictionary.md)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3672" y="35478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Stats SA Census 2022 data integration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5864" y="1463040"/>
            <a:ext cx="3639312" cy="512064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7304" y="149961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 Mammburu
#219952058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1904" y="1591056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A900"/>
                </a:solidFill>
              </a:rPr>
              <a:t>Speaker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4" y="1993392"/>
            <a:ext cx="3639312" cy="2304288"/>
          </a:xfrm>
          <a:prstGeom prst="rect">
            <a:avLst/>
          </a:prstGeom>
          <a:solidFill>
            <a:srgbClr val="F2F2F2"/>
          </a:solidFill>
          <a:ln w="6350">
            <a:solidFill>
              <a:srgbClr val="007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7304" y="206654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Q2.3: Leakage-free split-before-fit ColumnTransformer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2560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Q2.4: Domain feature engineering (ISI, SEVR, SAI mathematical formulation)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4" y="305409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Q3: Naive baseline + Logistic Regression + XGBoost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7304" y="354787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Pipeline architecture documentation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85416" y="4343400"/>
            <a:ext cx="3639312" cy="512064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76856" y="437997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 Maleke
#219868499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91456" y="4471416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A900"/>
                </a:solidFill>
              </a:rPr>
              <a:t>Speaker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85416" y="4873752"/>
            <a:ext cx="3639312" cy="1993392"/>
          </a:xfrm>
          <a:prstGeom prst="rect">
            <a:avLst/>
          </a:prstGeom>
          <a:solidFill>
            <a:srgbClr val="F2F2F2"/>
          </a:solidFill>
          <a:ln w="635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76856" y="494690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Q3: MLP neural network + PyTorch Tabular ResNet design &amp; training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76856" y="54406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Q4: 5-fold cross-validation evaluation across all 5 models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6856" y="593445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Q4.4: Overfitting diagnostics — learning curves, generalisation gap analysis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6856" y="642823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ROC overlay (Fig 6) and confusion matrices (Fig 9)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9048" y="4343400"/>
            <a:ext cx="3639312" cy="5120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0488" y="4379976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 Mavhungu
#220527930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05088" y="4471416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A900"/>
                </a:solidFill>
              </a:rPr>
              <a:t>Speaker 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8" y="4873752"/>
            <a:ext cx="3639312" cy="1993392"/>
          </a:xfrm>
          <a:prstGeom prst="rect">
            <a:avLst/>
          </a:prstGeom>
          <a:solidFill>
            <a:srgbClr val="F2F2F2"/>
          </a:solidFill>
          <a:ln w="63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0488" y="4946904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Q5: RandomizedSearchCV champion tuning — locked held-out test evaluation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0488" y="54406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Q6: 3 ablation experiments + McNemar exact significance 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93445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Q7: Gradio + Streamlit dual production deployment + POPIA UI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0488" y="6428232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▸  Q8: 4 policy recommendations + GitHub repository management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44768"/>
            <a:ext cx="12188952" cy="713232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4A900"/>
                </a:solidFill>
              </a:rPr>
              <a:t>Municipal Basic Service-Delivery Outage &amp; Infrastructure Vulnerability Triage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84831"/>
            <a:ext cx="11082528" cy="365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✅  3,500 municipal wards across all 9 South African provinces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70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✅  5 ML models trained, evaluated, and compared on identical 5-fold CV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7355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✅  XGBoost Champion: Macro-F1 = 0.9412  |  ROC-AUC = 0.9845  |  Accuracy = 94.43%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764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✅  McNemar exact test confirms statistical scientific integrity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✅  Deployed on Streamlit Cloud — shareable public link for municipal planners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28032"/>
            <a:ext cx="11082528" cy="36576"/>
          </a:xfrm>
          <a:prstGeom prst="rect">
            <a:avLst/>
          </a:prstGeom>
          <a:solidFill>
            <a:srgbClr val="F4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56048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4A900"/>
                </a:solidFill>
              </a:rPr>
              <a:t>We are happy to address any questions from the examination panel.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2F2"/>
                </a:solidFill>
              </a:rPr>
              <a:t>MM Masemola #218615937  ·  B Mdluli #222012937  ·  M Mammburu #219952058  ·  ME Maleke #219868499  ·  PA Mavhungu #220527930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9048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35C"/>
                </a:solidFill>
              </a:rPr>
              <a:t>Introduction to Data Science (IDA117V)  |  Second Semester 2026  |  Group Project — 100 Marks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