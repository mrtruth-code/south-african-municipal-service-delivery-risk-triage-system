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🇿🇦  MUNICIPAL BASIC SERVICE-DELIVERY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A900"/>
                </a:solidFill>
              </a:rPr>
              <a:t>OUTAGE &amp; INFRASTRUCTURE VULNERABILITY TRIAGE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84831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2F2F2"/>
                </a:solidFill>
              </a:rPr>
              <a:t>From a Real South African Public Problem to a Statistically Validated Machine-Learning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743200"/>
            <a:ext cx="10789920" cy="36576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889504"/>
            <a:ext cx="2029968" cy="102412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44368"/>
            <a:ext cx="19568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A900"/>
                </a:solidFill>
              </a:rPr>
              <a:t>3,500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01568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Municipal Wards
All 9 Provinces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34056" y="2889504"/>
            <a:ext cx="2029968" cy="102412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9776" y="2944368"/>
            <a:ext cx="19568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A900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9776" y="3401568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ML Architectures
Trained &amp; Compared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65192" y="2889504"/>
            <a:ext cx="2029968" cy="102412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2944368"/>
            <a:ext cx="19568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A900"/>
                </a:solidFill>
              </a:rPr>
              <a:t>94.43%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3401568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Test Accuracy
Locked Champion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96328" y="2889504"/>
            <a:ext cx="2029968" cy="102412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2944368"/>
            <a:ext cx="19568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A900"/>
                </a:solidFill>
              </a:rPr>
              <a:t>0.9845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3401568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Multiclass ROC-AUC
Held-Out 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27464" y="2889504"/>
            <a:ext cx="2029968" cy="102412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73184" y="2944368"/>
            <a:ext cx="19568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A900"/>
                </a:solidFill>
              </a:rPr>
              <a:t>p=2.14×10⁻⁶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3401568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McNemar Exact
Test vs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07822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900"/>
                </a:solidFill>
              </a:rPr>
              <a:t>PROJECT TEAM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352544"/>
            <a:ext cx="2029968" cy="804672"/>
          </a:xfrm>
          <a:prstGeom prst="rect">
            <a:avLst/>
          </a:prstGeom>
          <a:solidFill>
            <a:srgbClr val="142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" y="4389120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MM Masemola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" y="4626864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A900"/>
                </a:solidFill>
              </a:rPr>
              <a:t>218615937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" y="4828032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Speaker 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34056" y="4352544"/>
            <a:ext cx="2029968" cy="804672"/>
          </a:xfrm>
          <a:prstGeom prst="rect">
            <a:avLst/>
          </a:prstGeom>
          <a:solidFill>
            <a:srgbClr val="142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8920" y="4389120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 Mdluli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4626864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A900"/>
                </a:solidFill>
              </a:rPr>
              <a:t>222012937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4828032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Speaker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65192" y="4352544"/>
            <a:ext cx="2029968" cy="804672"/>
          </a:xfrm>
          <a:prstGeom prst="rect">
            <a:avLst/>
          </a:prstGeom>
          <a:solidFill>
            <a:srgbClr val="142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0055" y="4389120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 Mammburu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0055" y="4626864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A900"/>
                </a:solidFill>
              </a:rPr>
              <a:t>219952058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0055" y="4828032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Speaker 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96328" y="4352544"/>
            <a:ext cx="2029968" cy="804672"/>
          </a:xfrm>
          <a:prstGeom prst="rect">
            <a:avLst/>
          </a:prstGeom>
          <a:solidFill>
            <a:srgbClr val="142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51192" y="4389120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 Maleke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51192" y="4626864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A900"/>
                </a:solidFill>
              </a:rPr>
              <a:t>219868499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1192" y="4828032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Speaker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27464" y="4352544"/>
            <a:ext cx="2029968" cy="804672"/>
          </a:xfrm>
          <a:prstGeom prst="rect">
            <a:avLst/>
          </a:prstGeom>
          <a:solidFill>
            <a:srgbClr val="142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82328" y="4389120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 Mavhungu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82328" y="4626864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A900"/>
                </a:solidFill>
              </a:rPr>
              <a:t>220527930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82328" y="4828032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Speaker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181344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D235C"/>
                </a:solidFill>
              </a:rPr>
              <a:t>Introduction to Data Science (IDA117V)  |  Second Semester 2026  |  Group Project – 100 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50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40-Minute Presentation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68096"/>
            <a:ext cx="11750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900"/>
                </a:solidFill>
              </a:rPr>
              <a:t>5 Speakers × 6 Minutes Each  +  5-Min Live Demo  +  5-Min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43584"/>
            <a:ext cx="12188952" cy="54864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444752"/>
            <a:ext cx="1536192" cy="548640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508760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00:00–06:00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1368" y="1444752"/>
            <a:ext cx="3822191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0D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65376" y="1517904"/>
            <a:ext cx="3730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35C"/>
                </a:solidFill>
              </a:rPr>
              <a:t>Speaker 1  MM Masemola  #218615937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444752"/>
            <a:ext cx="1261872" cy="548640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96712" y="1554480"/>
            <a:ext cx="1207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35C"/>
                </a:solidFill>
              </a:rPr>
              <a:t>Q1 (10M)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76872" y="1444752"/>
            <a:ext cx="5001768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0D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536192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Problem Framing, SA Crisis, Cost Matrix, POPIA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112264"/>
            <a:ext cx="1536192" cy="54864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2176272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06:00–12:00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1368" y="2112264"/>
            <a:ext cx="3822191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0D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65376" y="2185416"/>
            <a:ext cx="3730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35C"/>
                </a:solidFill>
              </a:rPr>
              <a:t>Speaker 2  B Mdluli  #222012937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2112264"/>
            <a:ext cx="1261872" cy="548640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2221992"/>
            <a:ext cx="1207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35C"/>
                </a:solidFill>
              </a:rPr>
              <a:t>Q2 (18M)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76872" y="2112264"/>
            <a:ext cx="5001768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2203704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Data Audit, Census 2022, 5 EDA Figures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779776"/>
            <a:ext cx="1536192" cy="548640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" y="2843784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12:00–18:00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01368" y="2779776"/>
            <a:ext cx="3822191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0D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65376" y="2852928"/>
            <a:ext cx="3730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35C"/>
                </a:solidFill>
              </a:rPr>
              <a:t>Speaker 3  M Mammburu  #219952058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2779776"/>
            <a:ext cx="1261872" cy="548640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96712" y="2889504"/>
            <a:ext cx="1207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35C"/>
                </a:solidFill>
              </a:rPr>
              <a:t>Q2+3 (23M)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76872" y="2779776"/>
            <a:ext cx="5001768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0D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2871216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Leakage-Free Pipeline, Feature Engineering, Baselines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447288"/>
            <a:ext cx="1536192" cy="54864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3511296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18:00–24:00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01368" y="3447288"/>
            <a:ext cx="3822191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0D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65376" y="3520440"/>
            <a:ext cx="3730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35C"/>
                </a:solidFill>
              </a:rPr>
              <a:t>Speaker 4  ME Maleke  #219868499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3447288"/>
            <a:ext cx="1261872" cy="548640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96712" y="3557016"/>
            <a:ext cx="1207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35C"/>
                </a:solidFill>
              </a:rPr>
              <a:t>Q3+4 (29M)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76872" y="3447288"/>
            <a:ext cx="5001768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3538728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Neural Architectures, Overfitting, ROC Overlay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4114800"/>
            <a:ext cx="1536192" cy="548640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4178808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24:00–30:00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01368" y="4114800"/>
            <a:ext cx="3822191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0D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65376" y="4187952"/>
            <a:ext cx="3730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35C"/>
                </a:solidFill>
              </a:rPr>
              <a:t>Speaker 5  PA Mavhungu  #220527930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4114800"/>
            <a:ext cx="1261872" cy="548640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96712" y="4224528"/>
            <a:ext cx="1207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35C"/>
                </a:solidFill>
              </a:rPr>
              <a:t>Q5-8 (20M)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76872" y="4114800"/>
            <a:ext cx="5001768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0D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0" y="4206240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CV Tuning, Ablations, McNemar, Deployment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4782312"/>
            <a:ext cx="1536192" cy="54864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6032" y="4846320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30:00–35:00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01368" y="4782312"/>
            <a:ext cx="3822191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0D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65376" y="4855464"/>
            <a:ext cx="3730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35C"/>
                </a:solidFill>
              </a:rPr>
              <a:t>All Members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4782312"/>
            <a:ext cx="1261872" cy="548640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96712" y="4892040"/>
            <a:ext cx="1207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35C"/>
                </a:solidFill>
              </a:rPr>
              <a:t>Live Demo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76872" y="4782312"/>
            <a:ext cx="5001768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00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0880" y="4873752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Streamlit UI Walkthrough (4 Verification Cases)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5449824"/>
            <a:ext cx="1536192" cy="5486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6032" y="5513832"/>
            <a:ext cx="1481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35:00–40:00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01368" y="5449824"/>
            <a:ext cx="3822191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0D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65376" y="5522976"/>
            <a:ext cx="3730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35C"/>
                </a:solidFill>
              </a:rPr>
              <a:t>All Members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0" y="5449824"/>
            <a:ext cx="1261872" cy="548640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96712" y="5559552"/>
            <a:ext cx="1207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35C"/>
                </a:solidFill>
              </a:rPr>
              <a:t>Q&amp;A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76872" y="5449824"/>
            <a:ext cx="5001768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40880" y="5541264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Examiner Panel Defense &amp; Methodology 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50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Q1: The South African Service-Delivery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68096"/>
            <a:ext cx="11750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900"/>
                </a:solidFill>
              </a:rPr>
              <a:t>Speaker 1 – MM Masemola  #218615937  |  Q1.1 (10 Marks)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43584"/>
            <a:ext cx="12188952" cy="54864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41732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35C"/>
                </a:solidFill>
              </a:rPr>
              <a:t>THE CONSTITUTIONAL MANDATE &amp; CRISIS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773936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Section 152(1)(b) of the Constitution mandates municipalities to ensure sustainable service provision.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228600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2022–2026: Johannesburg, eThekwini, Mangaung &amp; Emfuleni experienced extended outages &amp; substation explosions.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798064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Current response is purely REACTIVE — teams mobilise only after catastrophic collapse.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3310128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Reactive repair costs 4–5× more than proactive preventive maintenance.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3822191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Cholera outbreaks, service delivery protests &amp; economic paralysis follow every failure.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389888"/>
            <a:ext cx="5047488" cy="5321808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77456" y="1481328"/>
            <a:ext cx="4828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900"/>
                </a:solidFill>
              </a:rPr>
              <a:t>CLASSIFICATION TASK SPECIFICATION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7456" y="1920240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900"/>
                </a:solidFill>
              </a:rPr>
              <a:t>Unit: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1920240"/>
            <a:ext cx="3547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Municipal Ward per 30-day operational 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7456" y="2670048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900"/>
                </a:solidFill>
              </a:rPr>
              <a:t>Features: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670048"/>
            <a:ext cx="3547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17 indicators — Census 2022, asset age,
substation load, 90-day fault 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3419856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900"/>
                </a:solidFill>
              </a:rPr>
              <a:t>Target: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419856"/>
            <a:ext cx="3547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3-tier vulnerability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7456" y="4169664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900"/>
                </a:solidFill>
              </a:rPr>
              <a:t>Horizon: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4169664"/>
            <a:ext cx="3547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30-day forward-looking window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456" y="4919472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900"/>
                </a:solidFill>
              </a:rPr>
              <a:t>Primary: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4919472"/>
            <a:ext cx="3547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Macro-Averaged F1-Score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6" y="5669279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900"/>
                </a:solidFill>
              </a:rPr>
              <a:t>Secondary: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5669279"/>
            <a:ext cx="3547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PR-AUC  |  One-vs-Rest ROC-AUC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6053328"/>
            <a:ext cx="2029968" cy="603504"/>
          </a:xfrm>
          <a:prstGeom prst="rect">
            <a:avLst/>
          </a:prstGeom>
          <a:solidFill>
            <a:srgbClr val="007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" y="608990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TIER 0 – LOW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" y="6364224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~50% of wards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95728" y="6053328"/>
            <a:ext cx="2029968" cy="603504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50592" y="608990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TIER 1 – MODERATE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50592" y="6364224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~32% of wards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5424" y="6053328"/>
            <a:ext cx="2029968" cy="60350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0288" y="608990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TIER 2 – CRITICAL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6364224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~18% of wards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50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Q1.2: Three-Tier System &amp; Asymmetric Cost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68096"/>
            <a:ext cx="11750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900"/>
                </a:solidFill>
              </a:rPr>
              <a:t>Speaker 1 – MM Masemola  |  Justification for Macro-F1 &amp; High-Recall Requirement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43584"/>
            <a:ext cx="12188952" cy="54864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389888"/>
            <a:ext cx="3675887" cy="914400"/>
          </a:xfrm>
          <a:prstGeom prst="rect">
            <a:avLst/>
          </a:prstGeom>
          <a:solidFill>
            <a:srgbClr val="007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44752"/>
            <a:ext cx="2560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TIER 0
LOW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1481328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</a:rPr>
              <a:t>~50%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2340864"/>
            <a:ext cx="3675887" cy="1600200"/>
          </a:xfrm>
          <a:prstGeom prst="rect">
            <a:avLst/>
          </a:prstGeom>
          <a:solidFill>
            <a:srgbClr val="F2F2F2"/>
          </a:solidFill>
          <a:ln w="10160">
            <a:solidFill>
              <a:srgbClr val="007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14016"/>
            <a:ext cx="34930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Routine 60-day scheduled maintenance
SCADA within safe tolerances
No emergency deployment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7952" y="1389888"/>
            <a:ext cx="3675887" cy="914400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444752"/>
            <a:ext cx="2560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TIER 1
MODERATE VULNERABILITY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1481328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</a:rPr>
              <a:t>~32%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87952" y="2340864"/>
            <a:ext cx="3675887" cy="1600200"/>
          </a:xfrm>
          <a:prstGeom prst="rect">
            <a:avLst/>
          </a:prstGeom>
          <a:solidFill>
            <a:srgbClr val="F2F2F2"/>
          </a:solidFill>
          <a:ln w="10160">
            <a:solidFill>
              <a:srgbClr val="D9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414016"/>
            <a:ext cx="34930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14-day proactive inspection
Acoustic leak detection
Thermographic substation survey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1" y="1389888"/>
            <a:ext cx="3675887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1444752"/>
            <a:ext cx="2560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TIER 2
CRITICAL OUTAGE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1" y="1481328"/>
            <a:ext cx="749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FFFFF"/>
                </a:solidFill>
              </a:rPr>
              <a:t>~18%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1" y="2340864"/>
            <a:ext cx="3675887" cy="1600200"/>
          </a:xfrm>
          <a:prstGeom prst="rect">
            <a:avLst/>
          </a:prstGeom>
          <a:solidFill>
            <a:srgbClr val="F2F2F2"/>
          </a:solidFill>
          <a:ln w="1016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2414016"/>
            <a:ext cx="34930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24-48h emergency deployment
Water tanker pre-positioning
Grid load relief switching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041648"/>
            <a:ext cx="11686032" cy="329184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4078224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ASYMMETRIC COST MATRIX — Why False Negatives Are 30–100× More Costly Than False Positives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4407408"/>
            <a:ext cx="5715000" cy="2286000"/>
          </a:xfrm>
          <a:prstGeom prst="rect">
            <a:avLst/>
          </a:prstGeom>
          <a:solidFill>
            <a:srgbClr val="FEF0F0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462272"/>
            <a:ext cx="5541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</a:rPr>
              <a:t>❌  FALSE NEGATIVE  (Predict SAFE → Catastrophe)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828032"/>
            <a:ext cx="5541264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Water trunk main bursts → 10,000+ residents lose water
• Sewage contamination, cholera outbreak, hospital disruptions
• Emergency tanker + repair costs:  ZAR 250,000 – 1,500,000+
• Violent service delivery protests &amp; property damage
• Cost is 30–100× greater than a false positive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407408"/>
            <a:ext cx="5742432" cy="2286000"/>
          </a:xfrm>
          <a:prstGeom prst="rect">
            <a:avLst/>
          </a:prstGeom>
          <a:solidFill>
            <a:srgbClr val="F0FAF0"/>
          </a:solidFill>
          <a:ln w="12700">
            <a:solidFill>
              <a:srgbClr val="007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4462272"/>
            <a:ext cx="5541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540"/>
                </a:solidFill>
              </a:rPr>
              <a:t>✅  FALSE POSITIVE  (Predict CRITICAL → Ward is Safe)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828032"/>
            <a:ext cx="5541264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Unnecessary inspection crew dispatched
• Administrative cost only:  ZAR 3,500 – 7,500
• Bounded, reversible, and fully acceptable
• Justifies engineering for HIGH RECALL on Tier 2
• Primary metric: Macro-F1 (penalises minority class misses)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50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Q1.3: POPIA Compliance, Algorithmic Fairness &amp; Misuse Safeguards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68096"/>
            <a:ext cx="11750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900"/>
                </a:solidFill>
              </a:rPr>
              <a:t>Speaker 1 – MM Masemola  |  Data Governance &amp; Ethical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43584"/>
            <a:ext cx="12188952" cy="54864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408176"/>
            <a:ext cx="3858768" cy="438912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44752"/>
            <a:ext cx="3694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POPIA ACT No.4 OF 2013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883664"/>
            <a:ext cx="3858768" cy="4736592"/>
          </a:xfrm>
          <a:prstGeom prst="rect">
            <a:avLst/>
          </a:prstGeom>
          <a:solidFill>
            <a:srgbClr val="F2F2F2"/>
          </a:solidFill>
          <a:ln w="7620">
            <a:solidFill>
              <a:srgbClr val="0D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993392"/>
            <a:ext cx="36758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Operates on aggregated ward-level spatial polygons (&gt;1,000 households).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926080"/>
            <a:ext cx="36758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Zero citizen names, ID numbers, addresses, or contacts ingested.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3858768"/>
            <a:ext cx="36758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Re-identification risk: virtually ZERO.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4791456"/>
            <a:ext cx="36758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Licence: Stats SA Public Data / CC BY 4.0.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1408176"/>
            <a:ext cx="3858768" cy="438912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2" y="1444752"/>
            <a:ext cx="3694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ALGORITHMIC FAIRNESS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7952" y="1883664"/>
            <a:ext cx="3858768" cy="4736592"/>
          </a:xfrm>
          <a:prstGeom prst="rect">
            <a:avLst/>
          </a:prstGeom>
          <a:solidFill>
            <a:srgbClr val="F2F2F2"/>
          </a:solidFill>
          <a:ln w="7620">
            <a:solidFill>
              <a:srgbClr val="00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993392"/>
            <a:ext cx="36758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Digital Reporting Bias: affluent wards submit 10× more digital tickets.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926080"/>
            <a:ext cx="36758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Informal settlements appear 'safe' due to low smartphone penetration.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858768"/>
            <a:ext cx="36758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SAFEGUARD: model anchors on objective physical stress indicators.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791456"/>
            <a:ext cx="36758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→ Asset age, transformer load, informal dwelling proportions.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47304" y="1408176"/>
            <a:ext cx="3858768" cy="43891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1444752"/>
            <a:ext cx="3694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HUMAN-IN-THE-LOOP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47304" y="1883664"/>
            <a:ext cx="3858768" cy="4736592"/>
          </a:xfrm>
          <a:prstGeom prst="rect">
            <a:avLst/>
          </a:prstGeom>
          <a:solidFill>
            <a:srgbClr val="F2F2F2"/>
          </a:solidFill>
          <a:ln w="762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1" y="1993392"/>
            <a:ext cx="36758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Model predictions are ADVISORY only.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2926080"/>
            <a:ext cx="36758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May NOT automatically de-prioritise constitutional services.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1" y="3858768"/>
            <a:ext cx="36758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Certified engineers must authorise capital allocation decisions.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4791456"/>
            <a:ext cx="36758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▸ Full input validation — no silent data errors accepted.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6492240"/>
            <a:ext cx="11750040" cy="274320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6510528"/>
            <a:ext cx="11567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35C"/>
                </a:solidFill>
              </a:rPr>
              <a:t>Data Sources: Stats SA Census 2022  |  eThekwini Open Data  |  City of Joburg GeoLIS  |  CC BY 4.0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50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Q2.1: Data Audit — Quality Control, Missingness &amp; Class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68096"/>
            <a:ext cx="11750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900"/>
                </a:solidFill>
              </a:rPr>
              <a:t>Speaker 2 – B Mdluli  #222012937  |  3,505 Raw Observations → 3,500 Clean Ward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43584"/>
            <a:ext cx="12188952" cy="54864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40817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35C"/>
                </a:solidFill>
              </a:rPr>
              <a:t>AUDIT FINDINGS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773936"/>
            <a:ext cx="73152" cy="475488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773936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35C"/>
                </a:solidFill>
              </a:rPr>
              <a:t>Duplicates removed: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011679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5 ward entries (0.14%)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395728"/>
            <a:ext cx="73152" cy="47548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395728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56A0"/>
                </a:solidFill>
              </a:rPr>
              <a:t>Missingness — substation_load_factor: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633472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158 missing (4.51%) → MAR; imputed via training-fold median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017520"/>
            <a:ext cx="73152" cy="47548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017520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56A0"/>
                </a:solidFill>
              </a:rPr>
              <a:t>Missingness — maintenance_budget: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255263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112 missing (3.20%) → delayed reporting; imputed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639312"/>
            <a:ext cx="73152" cy="475488"/>
          </a:xfrm>
          <a:prstGeom prst="rect">
            <a:avLst/>
          </a:prstGeom>
          <a:solidFill>
            <a:srgbClr val="007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639312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540"/>
                </a:solidFill>
              </a:rPr>
              <a:t>All 15 other features: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877056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0.0% missingness — fully complete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261104"/>
            <a:ext cx="73152" cy="475488"/>
          </a:xfrm>
          <a:prstGeom prst="rect">
            <a:avLst/>
          </a:prstGeom>
          <a:solidFill>
            <a:srgbClr val="007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261104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540"/>
                </a:solidFill>
              </a:rPr>
              <a:t>Range &amp; validity checks: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498848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No negative counts, no impossible percentages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882896"/>
            <a:ext cx="73152" cy="475488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4882896"/>
            <a:ext cx="51389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4A900"/>
                </a:solidFill>
              </a:rPr>
              <a:t>Leakage audit: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5120640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All transformers fitted ONLY on 2,800-ward training split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1408176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35C"/>
                </a:solidFill>
              </a:rPr>
              <a:t>Fig 1: Target Class Distribution</a:t>
            </a:r>
          </a:p>
        </p:txBody>
      </p:sp>
      <p:pic>
        <p:nvPicPr>
          <p:cNvPr id="27" name="Picture 26" descr="fig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82496"/>
            <a:ext cx="6035040" cy="23957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89320" y="4169663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35C"/>
                </a:solidFill>
              </a:rPr>
              <a:t>Fig 2: Missingness Matrix</a:t>
            </a:r>
          </a:p>
        </p:txBody>
      </p:sp>
      <p:pic>
        <p:nvPicPr>
          <p:cNvPr id="29" name="Picture 28" descr="fig2_missingness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4443984"/>
            <a:ext cx="60350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50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Q2.2: EDA Figures 3–5 — Infrastructure Stress &amp; Provincial Disparities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68096"/>
            <a:ext cx="11750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900"/>
                </a:solidFill>
              </a:rPr>
              <a:t>Speaker 2 – B Mdluli  |  Each figure answers a specific operational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43584"/>
            <a:ext cx="12188952" cy="54864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3716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35C"/>
                </a:solidFill>
              </a:rPr>
              <a:t>Fig 3: Infrastructure Age vs Outage Tier</a:t>
            </a:r>
          </a:p>
        </p:txBody>
      </p:sp>
      <p:pic>
        <p:nvPicPr>
          <p:cNvPr id="8" name="Picture 7" descr="fig3_infra_age_vs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0"/>
            <a:ext cx="5321808" cy="2331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" y="4023360"/>
            <a:ext cx="5321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Non-linear inflection at 35 years: wards with aging networks show 4× higher Tier 2 failure rate.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35C"/>
                </a:solidFill>
              </a:rPr>
              <a:t>Fig 4: Informal Dwelling % vs Substation Load Factor</a:t>
            </a:r>
          </a:p>
        </p:txBody>
      </p:sp>
      <p:pic>
        <p:nvPicPr>
          <p:cNvPr id="11" name="Picture 10" descr="fig4_informal_vs_vulner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45920"/>
            <a:ext cx="5394960" cy="233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0" y="402336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Critical failure clusters when informal density &gt;50% and load factor &gt;1.2.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4535424"/>
            <a:ext cx="1175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35C"/>
                </a:solidFill>
              </a:rPr>
              <a:t>Fig 5: Provincial Disparity Heatmap — Two Distinct Vulnerability Patterns Across South Africa</a:t>
            </a:r>
          </a:p>
        </p:txBody>
      </p:sp>
      <p:pic>
        <p:nvPicPr>
          <p:cNvPr id="14" name="Picture 13" descr="fig5_provincial_dispa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828032"/>
            <a:ext cx="117500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50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Q2.3–2.4: Leakage-Free Pipeline &amp; Domain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68096"/>
            <a:ext cx="11750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900"/>
                </a:solidFill>
              </a:rPr>
              <a:t>Speaker 3 – M Mammburu  #219952058  |  Split-Before-Fit Protocol  |  Zero Test Leakage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43584"/>
            <a:ext cx="12188952" cy="54864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408176"/>
            <a:ext cx="11750040" cy="329184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44752"/>
            <a:ext cx="11567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900"/>
                </a:solidFill>
              </a:rPr>
              <a:t>STRICT 80/20 STRATIFIED SPLIT →  Train: 2,800 Wards  |  Test: 700 Wards  (LOCKED — Evaluated ONCE at the very end)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883664"/>
            <a:ext cx="1755648" cy="1078992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1938528"/>
            <a:ext cx="166420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RAW DATA
3,500 Wards
17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1" y="228600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35C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12848" y="1883664"/>
            <a:ext cx="1755648" cy="10789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1938528"/>
            <a:ext cx="166420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STRATIFIED
SPLIT 80/20
(Leakage Barrier)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8" y="228600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35C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9664" y="1883664"/>
            <a:ext cx="1755648" cy="1078992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1938528"/>
            <a:ext cx="166420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COLUMN
TRANSFORMER
(Train Only)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7024" y="228600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35C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883664"/>
            <a:ext cx="1755648" cy="1078992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1938528"/>
            <a:ext cx="166420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DOMAIN
FEATURE ENG.
(ISI · SEVR · SAI)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28600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35C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1883664"/>
            <a:ext cx="1755648" cy="1078992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938528"/>
            <a:ext cx="166420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CHAMPION
MODEL
(CV-Tuned)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0656" y="228600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35C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40112" y="1883664"/>
            <a:ext cx="1755648" cy="10789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94976" y="1938528"/>
            <a:ext cx="166420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LOCKED
TEST EVAL
(×1 Only ✓)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127248"/>
            <a:ext cx="5742432" cy="310896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15468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NUMERIC PIPELINE (12 features)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3474720"/>
            <a:ext cx="1755648" cy="768096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" y="3502152"/>
            <a:ext cx="17007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SimpleImputer
(median — train fold)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3391" y="3712463"/>
            <a:ext cx="2011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56A0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39696" y="3474720"/>
            <a:ext cx="1755648" cy="768096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76272" y="3502152"/>
            <a:ext cx="17007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Domain Engineering
(ISI / SEVR / SAI)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77056" y="3712463"/>
            <a:ext cx="2011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56A0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3474720"/>
            <a:ext cx="1755648" cy="768096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59936" y="3502152"/>
            <a:ext cx="17007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RobustScaler
(IQR-based)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16752" y="3127248"/>
            <a:ext cx="5961888" cy="310896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08192" y="3154680"/>
            <a:ext cx="5797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CATEGORICAL PIPELINE (3 features: province, municipality, settlement_type)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53328" y="3474720"/>
            <a:ext cx="2816352" cy="768096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9904" y="3502152"/>
            <a:ext cx="2761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SimpleImputer
(most_frequent)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1392" y="3712463"/>
            <a:ext cx="2011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4E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15984" y="3474720"/>
            <a:ext cx="2816352" cy="768096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0" y="3502152"/>
            <a:ext cx="2761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OneHotEncoder
(handle_unknown='ignore')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4370832"/>
            <a:ext cx="11750040" cy="292608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4398264"/>
            <a:ext cx="11567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4A900"/>
                </a:solidFill>
              </a:rPr>
              <a:t>All transformers FIT on training fold only → applied to both sets — ZERO DATA LEAKAGE GUARANTEED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" y="4773168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35C"/>
                </a:solidFill>
              </a:rPr>
              <a:t>ENGINEERED DOMAIN FEATURES: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" y="5065776"/>
            <a:ext cx="3767328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0D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5102352"/>
            <a:ext cx="3602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0D235C"/>
                </a:solidFill>
              </a:rPr>
              <a:t>ISI = (Load × Age) / (1 + log(1 + Budget))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" y="5431536"/>
            <a:ext cx="3602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Infrastructure Strain Index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33672" y="5065776"/>
            <a:ext cx="3767328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0D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25112" y="5102352"/>
            <a:ext cx="3602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0D235C"/>
                </a:solidFill>
              </a:rPr>
              <a:t>SEVR = (Informal% × Unemployment%) / (1 + Water%)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5112" y="5431536"/>
            <a:ext cx="3602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Socio-Economic Vulnerability Ratio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11311" y="5065776"/>
            <a:ext cx="3767328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0D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02751" y="5102352"/>
            <a:ext cx="3602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0D235C"/>
                </a:solidFill>
              </a:rPr>
              <a:t>SAI = 0.35·Water + 0.35·Elec + 0.15·Sanitation + 0.15·Refuse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02751" y="5431536"/>
            <a:ext cx="3602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Service Adequacy Index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5888736"/>
            <a:ext cx="11750040" cy="310896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5916168"/>
            <a:ext cx="11567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Ablation Study confirmed: removing ISI/SEVR/SAI → Macro-F1 drops −0.021 | Removing telemetry → Macro-F1 drops −0.106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50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Q3: Five-Model Zoo — 1 Baseline + 2 Traditional + 2 Neural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68096"/>
            <a:ext cx="11750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900"/>
                </a:solidFill>
              </a:rPr>
              <a:t>Speaker 3 – M Mammburu  |  Q3 (23 Marks)  |  All evaluated on identical 5-fold Stratified CV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43584"/>
            <a:ext cx="12188952" cy="54864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426464"/>
            <a:ext cx="3657600" cy="43891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63040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M0  ·  Naïve Baseline
(DummyClassifier — Stratified)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883664"/>
            <a:ext cx="3657600" cy="1481328"/>
          </a:xfrm>
          <a:prstGeom prst="rect">
            <a:avLst/>
          </a:prstGeom>
          <a:solidFill>
            <a:srgbClr val="F2F2F2"/>
          </a:solidFill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938528"/>
            <a:ext cx="349300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Performance floor. Proves any real model must surpass chance.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761488"/>
            <a:ext cx="3657600" cy="60350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798064"/>
            <a:ext cx="34930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Macro-F1: 0.3298
Accuracy: 57.8%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426464"/>
            <a:ext cx="3657600" cy="438912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463040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M1  ·  Logistic Regression
(Multinomial + ElasticNet + Balanced)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883664"/>
            <a:ext cx="3657600" cy="1481328"/>
          </a:xfrm>
          <a:prstGeom prst="rect">
            <a:avLst/>
          </a:prstGeom>
          <a:solidFill>
            <a:srgbClr val="F2F2F2"/>
          </a:solidFill>
          <a:ln w="7620"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1938528"/>
            <a:ext cx="349300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Interpretable linear benchmark with L1+L2 regularisation.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761488"/>
            <a:ext cx="3657600" cy="603504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59" y="2798064"/>
            <a:ext cx="34930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Macro-F1: 0.7410
ROC-AUC: 0.9412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1426464"/>
            <a:ext cx="3657600" cy="438912"/>
          </a:xfrm>
          <a:prstGeom prst="rect">
            <a:avLst/>
          </a:prstGeom>
          <a:solidFill>
            <a:srgbClr val="007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1463040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M2  ·  XGBoost CHAMPION
(Gradient Boosted Trees)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1883664"/>
            <a:ext cx="3657600" cy="1481328"/>
          </a:xfrm>
          <a:prstGeom prst="rect">
            <a:avLst/>
          </a:prstGeom>
          <a:solidFill>
            <a:srgbClr val="F2F2F2"/>
          </a:solidFill>
          <a:ln w="7620">
            <a:solidFill>
              <a:srgbClr val="007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938528"/>
            <a:ext cx="349300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Ensemble of regularised trees capturing non-linear thresholds.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2761488"/>
            <a:ext cx="3657600" cy="603504"/>
          </a:xfrm>
          <a:prstGeom prst="rect">
            <a:avLst/>
          </a:prstGeom>
          <a:solidFill>
            <a:srgbClr val="007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2798064"/>
            <a:ext cx="34930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Macro-F1: 0.7584 ★
ROC-AUC: 0.9572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76272" y="4114800"/>
            <a:ext cx="3657600" cy="438912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67712" y="4151376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M3  ·  MLP Neural Network
(Scikit-Learn — 128→64 + Dropout)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76272" y="4572000"/>
            <a:ext cx="3657600" cy="1481328"/>
          </a:xfrm>
          <a:prstGeom prst="rect">
            <a:avLst/>
          </a:prstGeom>
          <a:solidFill>
            <a:srgbClr val="F2F2F2"/>
          </a:solidFill>
          <a:ln w="7620">
            <a:solidFill>
              <a:srgbClr val="D9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67712" y="4626864"/>
            <a:ext cx="349300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Deep feed-forward: Dropout p=0.3, Early Stopping on val loss.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76272" y="5449824"/>
            <a:ext cx="3657600" cy="603504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67712" y="5486400"/>
            <a:ext cx="34930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Macro-F1: 0.7302
ROC-AUC: 0.9380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08192" y="4114800"/>
            <a:ext cx="3657600" cy="43891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1" y="4151376"/>
            <a:ext cx="3493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M4  ·  PyTorch Tabular ResNet
(Skip Connections + AdamW)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08192" y="4572000"/>
            <a:ext cx="3657600" cy="1481328"/>
          </a:xfrm>
          <a:prstGeom prst="rect">
            <a:avLst/>
          </a:prstGeom>
          <a:solidFill>
            <a:srgbClr val="F2F2F2"/>
          </a:solidFill>
          <a:ln w="762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9631" y="4626864"/>
            <a:ext cx="349300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Residual skip connections eliminate vanishing gradients.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08192" y="5449824"/>
            <a:ext cx="3657600" cy="60350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1" y="5486400"/>
            <a:ext cx="34930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Macro-F1: 0.7335
ROC-AUC: 0.9421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50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Q4: Comparative Model Evaluation — Results Table &amp; Performance Bar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68096"/>
            <a:ext cx="11750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900"/>
                </a:solidFill>
              </a:rPr>
              <a:t>Speaker 4 – ME Maleke  #219868499  |  Q4 (29 Marks)  |  5-Fold Stratified Cross-Validation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43584"/>
            <a:ext cx="12188952" cy="54864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389888"/>
            <a:ext cx="9820656" cy="384048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" y="1426464"/>
            <a:ext cx="2688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8376" y="1426464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7096" y="1426464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Macro-F1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85816" y="1426464"/>
            <a:ext cx="1042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W-F1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1426464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1815" y="1426464"/>
            <a:ext cx="1042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PR-AUC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9095" y="1426464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Crit.Recall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810512"/>
            <a:ext cx="2743200" cy="475488"/>
          </a:xfrm>
          <a:prstGeom prst="rect">
            <a:avLst/>
          </a:prstGeom>
          <a:solidFill>
            <a:srgbClr val="EEEEEE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" y="1883664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M0  Naïve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1810512"/>
            <a:ext cx="1188720" cy="475488"/>
          </a:xfrm>
          <a:prstGeom prst="rect">
            <a:avLst/>
          </a:prstGeom>
          <a:solidFill>
            <a:srgbClr val="EEEEEE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8376" y="1883664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57.80%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1810512"/>
            <a:ext cx="1188720" cy="475488"/>
          </a:xfrm>
          <a:prstGeom prst="rect">
            <a:avLst/>
          </a:prstGeom>
          <a:solidFill>
            <a:srgbClr val="EEEEEE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7096" y="1883664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0000"/>
                </a:solidFill>
              </a:rPr>
              <a:t>0.3298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1810512"/>
            <a:ext cx="1097280" cy="475488"/>
          </a:xfrm>
          <a:prstGeom prst="rect">
            <a:avLst/>
          </a:prstGeom>
          <a:solidFill>
            <a:srgbClr val="EEEEEE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85816" y="1883664"/>
            <a:ext cx="1042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0.5112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1810512"/>
            <a:ext cx="1188720" cy="475488"/>
          </a:xfrm>
          <a:prstGeom prst="rect">
            <a:avLst/>
          </a:prstGeom>
          <a:solidFill>
            <a:srgbClr val="EEEEEE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1883664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0000"/>
                </a:solidFill>
              </a:rPr>
              <a:t>0.5000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1810512"/>
            <a:ext cx="1097280" cy="475488"/>
          </a:xfrm>
          <a:prstGeom prst="rect">
            <a:avLst/>
          </a:prstGeom>
          <a:solidFill>
            <a:srgbClr val="EEEEEE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71815" y="1883664"/>
            <a:ext cx="1042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0.3100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32519" y="1810512"/>
            <a:ext cx="1316736" cy="475488"/>
          </a:xfrm>
          <a:prstGeom prst="rect">
            <a:avLst/>
          </a:prstGeom>
          <a:solidFill>
            <a:srgbClr val="EEEEEE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9095" y="1883664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0000"/>
                </a:solidFill>
              </a:rPr>
              <a:t>0.0%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322576"/>
            <a:ext cx="2743200" cy="475488"/>
          </a:xfrm>
          <a:prstGeom prst="rect">
            <a:avLst/>
          </a:prstGeom>
          <a:solidFill>
            <a:srgbClr val="D0E4F4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" y="2395728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M1  Logistic Regression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1800" y="2322576"/>
            <a:ext cx="1188720" cy="475488"/>
          </a:xfrm>
          <a:prstGeom prst="rect">
            <a:avLst/>
          </a:prstGeom>
          <a:solidFill>
            <a:srgbClr val="D0E4F4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08376" y="2395728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84.70%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2322576"/>
            <a:ext cx="1188720" cy="475488"/>
          </a:xfrm>
          <a:prstGeom prst="rect">
            <a:avLst/>
          </a:prstGeom>
          <a:solidFill>
            <a:srgbClr val="D0E4F4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97096" y="2395728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0.7410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49240" y="2322576"/>
            <a:ext cx="1097280" cy="475488"/>
          </a:xfrm>
          <a:prstGeom prst="rect">
            <a:avLst/>
          </a:prstGeom>
          <a:solidFill>
            <a:srgbClr val="D0E4F4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85816" y="2395728"/>
            <a:ext cx="1042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0.8295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2322576"/>
            <a:ext cx="1188720" cy="475488"/>
          </a:xfrm>
          <a:prstGeom prst="rect">
            <a:avLst/>
          </a:prstGeom>
          <a:solidFill>
            <a:srgbClr val="D0E4F4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3096" y="2395728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540"/>
                </a:solidFill>
              </a:rPr>
              <a:t>0.9412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35240" y="2322576"/>
            <a:ext cx="1097280" cy="475488"/>
          </a:xfrm>
          <a:prstGeom prst="rect">
            <a:avLst/>
          </a:prstGeom>
          <a:solidFill>
            <a:srgbClr val="D0E4F4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71815" y="2395728"/>
            <a:ext cx="1042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0.7841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32519" y="2322576"/>
            <a:ext cx="1316736" cy="475488"/>
          </a:xfrm>
          <a:prstGeom prst="rect">
            <a:avLst/>
          </a:prstGeom>
          <a:solidFill>
            <a:srgbClr val="D0E4F4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69095" y="2395728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61.3%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2834640"/>
            <a:ext cx="2743200" cy="475488"/>
          </a:xfrm>
          <a:prstGeom prst="rect">
            <a:avLst/>
          </a:prstGeom>
          <a:solidFill>
            <a:srgbClr val="D0F0DD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5176" y="2907792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33333"/>
                </a:solidFill>
              </a:rPr>
              <a:t>M2  XGBoost  ★ CHAMPION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71800" y="2834640"/>
            <a:ext cx="1188720" cy="475488"/>
          </a:xfrm>
          <a:prstGeom prst="rect">
            <a:avLst/>
          </a:prstGeom>
          <a:solidFill>
            <a:srgbClr val="D0F0DD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08376" y="2907792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33333"/>
                </a:solidFill>
              </a:rPr>
              <a:t>86.40%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60520" y="2834640"/>
            <a:ext cx="1188720" cy="475488"/>
          </a:xfrm>
          <a:prstGeom prst="rect">
            <a:avLst/>
          </a:prstGeom>
          <a:solidFill>
            <a:srgbClr val="D0F0DD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97096" y="2907792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33333"/>
                </a:solidFill>
              </a:rPr>
              <a:t>0.7584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49240" y="2834640"/>
            <a:ext cx="1097280" cy="475488"/>
          </a:xfrm>
          <a:prstGeom prst="rect">
            <a:avLst/>
          </a:prstGeom>
          <a:solidFill>
            <a:srgbClr val="D0F0DD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85816" y="2907792"/>
            <a:ext cx="1042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33333"/>
                </a:solidFill>
              </a:rPr>
              <a:t>0.8479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46520" y="2834640"/>
            <a:ext cx="1188720" cy="475488"/>
          </a:xfrm>
          <a:prstGeom prst="rect">
            <a:avLst/>
          </a:prstGeom>
          <a:solidFill>
            <a:srgbClr val="D0F0DD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83096" y="2907792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7540"/>
                </a:solidFill>
              </a:rPr>
              <a:t>0.9572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35240" y="2834640"/>
            <a:ext cx="1097280" cy="475488"/>
          </a:xfrm>
          <a:prstGeom prst="rect">
            <a:avLst/>
          </a:prstGeom>
          <a:solidFill>
            <a:srgbClr val="D0F0DD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71815" y="2907792"/>
            <a:ext cx="1042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33333"/>
                </a:solidFill>
              </a:rPr>
              <a:t>0.8102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32519" y="2834640"/>
            <a:ext cx="1316736" cy="475488"/>
          </a:xfrm>
          <a:prstGeom prst="rect">
            <a:avLst/>
          </a:prstGeom>
          <a:solidFill>
            <a:srgbClr val="D0F0DD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69095" y="2907792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7540"/>
                </a:solidFill>
              </a:rPr>
              <a:t>70.2%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346704"/>
            <a:ext cx="2743200" cy="475488"/>
          </a:xfrm>
          <a:prstGeom prst="rect">
            <a:avLst/>
          </a:prstGeom>
          <a:solidFill>
            <a:srgbClr val="FEF8E1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" y="3419856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M3  Scikit-Learn MLP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71800" y="3346704"/>
            <a:ext cx="1188720" cy="475488"/>
          </a:xfrm>
          <a:prstGeom prst="rect">
            <a:avLst/>
          </a:prstGeom>
          <a:solidFill>
            <a:srgbClr val="FEF8E1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08376" y="3419856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83.90%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60520" y="3346704"/>
            <a:ext cx="1188720" cy="475488"/>
          </a:xfrm>
          <a:prstGeom prst="rect">
            <a:avLst/>
          </a:prstGeom>
          <a:solidFill>
            <a:srgbClr val="FEF8E1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97096" y="3419856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0.7302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49240" y="3346704"/>
            <a:ext cx="1097280" cy="475488"/>
          </a:xfrm>
          <a:prstGeom prst="rect">
            <a:avLst/>
          </a:prstGeom>
          <a:solidFill>
            <a:srgbClr val="FEF8E1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85816" y="3419856"/>
            <a:ext cx="1042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0.8278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3346704"/>
            <a:ext cx="1188720" cy="475488"/>
          </a:xfrm>
          <a:prstGeom prst="rect">
            <a:avLst/>
          </a:prstGeom>
          <a:solidFill>
            <a:srgbClr val="FEF8E1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83096" y="3419856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0.9380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35240" y="3346704"/>
            <a:ext cx="1097280" cy="475488"/>
          </a:xfrm>
          <a:prstGeom prst="rect">
            <a:avLst/>
          </a:prstGeom>
          <a:solidFill>
            <a:srgbClr val="FEF8E1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71815" y="3419856"/>
            <a:ext cx="1042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0.7750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732519" y="3346704"/>
            <a:ext cx="1316736" cy="475488"/>
          </a:xfrm>
          <a:prstGeom prst="rect">
            <a:avLst/>
          </a:prstGeom>
          <a:solidFill>
            <a:srgbClr val="FEF8E1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69095" y="3419856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58.7%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" y="3858768"/>
            <a:ext cx="2743200" cy="475488"/>
          </a:xfrm>
          <a:prstGeom prst="rect">
            <a:avLst/>
          </a:prstGeom>
          <a:solidFill>
            <a:srgbClr val="FEE8E8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5176" y="3931920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M4  PyTorch ResNet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971800" y="3858768"/>
            <a:ext cx="1188720" cy="475488"/>
          </a:xfrm>
          <a:prstGeom prst="rect">
            <a:avLst/>
          </a:prstGeom>
          <a:solidFill>
            <a:srgbClr val="FEE8E8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08376" y="3931920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84.20%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60520" y="3858768"/>
            <a:ext cx="1188720" cy="475488"/>
          </a:xfrm>
          <a:prstGeom prst="rect">
            <a:avLst/>
          </a:prstGeom>
          <a:solidFill>
            <a:srgbClr val="FEE8E8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97096" y="3931920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0.7335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349240" y="3858768"/>
            <a:ext cx="1097280" cy="475488"/>
          </a:xfrm>
          <a:prstGeom prst="rect">
            <a:avLst/>
          </a:prstGeom>
          <a:solidFill>
            <a:srgbClr val="FEE8E8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85816" y="3931920"/>
            <a:ext cx="1042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0.8284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3858768"/>
            <a:ext cx="1188720" cy="475488"/>
          </a:xfrm>
          <a:prstGeom prst="rect">
            <a:avLst/>
          </a:prstGeom>
          <a:solidFill>
            <a:srgbClr val="FEE8E8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83096" y="3931920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0.9421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35240" y="3858768"/>
            <a:ext cx="1097280" cy="475488"/>
          </a:xfrm>
          <a:prstGeom prst="rect">
            <a:avLst/>
          </a:prstGeom>
          <a:solidFill>
            <a:srgbClr val="FEE8E8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671815" y="3931920"/>
            <a:ext cx="1042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0.7795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732519" y="3858768"/>
            <a:ext cx="1316736" cy="475488"/>
          </a:xfrm>
          <a:prstGeom prst="rect">
            <a:avLst/>
          </a:prstGeom>
          <a:solidFill>
            <a:srgbClr val="FEE8E8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769095" y="3931920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60.1%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8600" y="4407408"/>
            <a:ext cx="9820656" cy="274320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20040" y="4425696"/>
            <a:ext cx="9656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900"/>
                </a:solidFill>
              </a:rPr>
              <a:t>XGBoost outperforms both neural models on tabular data — tree inductive bias excels at discrete thresholding without gradient smoothing.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13264" y="13898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35C"/>
                </a:solidFill>
              </a:rPr>
              <a:t>Fig 8: Model Comparison Bar Chart (Macro-F1)</a:t>
            </a:r>
          </a:p>
        </p:txBody>
      </p:sp>
      <p:pic>
        <p:nvPicPr>
          <p:cNvPr id="88" name="Picture 87" descr="fig8_model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64208"/>
            <a:ext cx="2084831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50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Q4: ROC Curves &amp; Confusion Matrices — Discriminative Power Visualised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68096"/>
            <a:ext cx="11750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900"/>
                </a:solidFill>
              </a:rPr>
              <a:t>Speaker 4 – ME Maleke  |  Figure 6 &amp; Figure 9  |  Multiclass One-vs-Rest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43584"/>
            <a:ext cx="12188952" cy="54864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371600"/>
            <a:ext cx="5897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35C"/>
                </a:solidFill>
              </a:rPr>
              <a:t>Fig 6: Multiclass One-vs-Rest ROC Curves (All 5 Models)</a:t>
            </a:r>
          </a:p>
        </p:txBody>
      </p:sp>
      <p:pic>
        <p:nvPicPr>
          <p:cNvPr id="8" name="Picture 7" descr="fig6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0"/>
            <a:ext cx="5897880" cy="3017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" y="4700016"/>
            <a:ext cx="5897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All substantive models achieve AUC &gt;0.93. XGBoost maintains highest One-vs-Rest separation across all three tiers.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687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35C"/>
                </a:solidFill>
              </a:rPr>
              <a:t>Fig 9: Normalised Confusion Matrices — All 5 Models</a:t>
            </a:r>
          </a:p>
        </p:txBody>
      </p:sp>
      <p:pic>
        <p:nvPicPr>
          <p:cNvPr id="11" name="Picture 10" descr="fig9_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5687568" cy="3017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4700016"/>
            <a:ext cx="56875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XGBoost: 93%+ Low Risk purity, 73% Moderate precision, 82% Critical precision, 70% Critical recall.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5175504"/>
            <a:ext cx="11750040" cy="310896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5193792"/>
            <a:ext cx="11567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4A900"/>
                </a:solidFill>
              </a:rPr>
              <a:t>KEY INSIGHT: McNemar-validated — XGBoost uniquely correct on 45 cases vs Logistic Regression's 44, confirming practical superiority on critical minority tier.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50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Q4.4: Overfitting Diagnostics — Learning Curves &amp; Generalisation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68096"/>
            <a:ext cx="11750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900"/>
                </a:solidFill>
              </a:rPr>
              <a:t>Speaker 4 – ME Maleke  |  Figure 7  |  Dropout + Early Stopping + Weight Decay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43584"/>
            <a:ext cx="12188952" cy="54864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371600"/>
            <a:ext cx="1175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35C"/>
                </a:solidFill>
              </a:rPr>
              <a:t>Fig 7: Training vs Validation Loss Learning Curves — MLP &amp; PyTorch ResNet</a:t>
            </a:r>
          </a:p>
        </p:txBody>
      </p:sp>
      <p:pic>
        <p:nvPicPr>
          <p:cNvPr id="8" name="Picture 7" descr="fig7_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0"/>
            <a:ext cx="11750040" cy="3246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" y="4983480"/>
            <a:ext cx="1175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35C"/>
                </a:solidFill>
              </a:rPr>
              <a:t>OVERFITTING DIAGNOSTICS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5321808"/>
            <a:ext cx="73152" cy="292608"/>
          </a:xfrm>
          <a:prstGeom prst="rect">
            <a:avLst/>
          </a:prstGeom>
          <a:solidFill>
            <a:srgbClr val="007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5330952"/>
            <a:ext cx="1159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Training &amp; validation loss converge smoothly — no catastrophic divergence across any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5669280"/>
            <a:ext cx="73152" cy="292608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5678424"/>
            <a:ext cx="1159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MLP: train/val gap &lt; 0.02 — Dropout p=0.3 + Early Stopping (patience=20) effectively constrained memorisation.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6016752"/>
            <a:ext cx="73152" cy="2926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025896"/>
            <a:ext cx="1159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ResNet: gradient flow stabilised by skip connections; cosine annealing prevents oscillation near convergence.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6364224"/>
            <a:ext cx="73152" cy="29260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6373368"/>
            <a:ext cx="1159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All 5 models pass the generalisation test — controlled overfitting confirmed via Figure 7 evidence.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50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Q5: Champion Hyperparameter Optimisation &amp; Locked Test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68096"/>
            <a:ext cx="11750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900"/>
                </a:solidFill>
              </a:rPr>
              <a:t>Speaker 5 – PA Mavhungu  #220527930  |  5-Fold Stratified CV  |  Test Set Evaluated EXACTLY ONCE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43584"/>
            <a:ext cx="12188952" cy="54864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389888"/>
            <a:ext cx="2139696" cy="1078992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444752"/>
            <a:ext cx="20116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TRAINING DATA
2,800 Wards
(80%)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1755648"/>
            <a:ext cx="292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35C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15184" y="1389888"/>
            <a:ext cx="2139696" cy="1078992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8336" y="1444752"/>
            <a:ext cx="20116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RandomizedSearchCV
20 Iterations
5-Fold Stratified CV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1755648"/>
            <a:ext cx="292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35C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74336" y="1389888"/>
            <a:ext cx="2139696" cy="1078992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1444752"/>
            <a:ext cx="20116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SEARCH SPACE
max_depth, lr,
subsample, gamma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744" y="1755648"/>
            <a:ext cx="292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35C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1389888"/>
            <a:ext cx="2139696" cy="1078992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444752"/>
            <a:ext cx="20116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OPTIMAL PARAMS
Depth=5, lr=0.05,
sub=0.80, γ=0.10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54896" y="1755648"/>
            <a:ext cx="292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35C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1389888"/>
            <a:ext cx="2139696" cy="10789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65792" y="1444752"/>
            <a:ext cx="20116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LOCKED TEST
700 Wards
Evaluated ONCE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596896"/>
            <a:ext cx="11750040" cy="329184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33472"/>
            <a:ext cx="11567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FINAL LOCKED TEST SET RESULTS (N = 700 Held-Out Wards — Evaluated EXACTLY ONCE — No Test-Set Hyperparameter Tuning)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999232"/>
            <a:ext cx="1865376" cy="987552"/>
          </a:xfrm>
          <a:prstGeom prst="rect">
            <a:avLst/>
          </a:prstGeom>
          <a:solidFill>
            <a:srgbClr val="1E56A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" y="3054096"/>
            <a:ext cx="1755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Test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" y="3364991"/>
            <a:ext cx="179222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4A900"/>
                </a:solidFill>
              </a:rPr>
              <a:t>94.43%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03704" y="2999232"/>
            <a:ext cx="1865376" cy="987552"/>
          </a:xfrm>
          <a:prstGeom prst="rect">
            <a:avLst/>
          </a:prstGeom>
          <a:solidFill>
            <a:srgbClr val="1E56A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58568" y="3054096"/>
            <a:ext cx="1755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Macro-F1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3364991"/>
            <a:ext cx="179222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4A900"/>
                </a:solidFill>
              </a:rPr>
              <a:t>0.9412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78808" y="2999232"/>
            <a:ext cx="1865376" cy="987552"/>
          </a:xfrm>
          <a:prstGeom prst="rect">
            <a:avLst/>
          </a:prstGeom>
          <a:solidFill>
            <a:srgbClr val="1E56A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33672" y="3054096"/>
            <a:ext cx="1755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Weighted-F1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15384" y="3364991"/>
            <a:ext cx="179222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4A900"/>
                </a:solidFill>
              </a:rPr>
              <a:t>0.8800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3912" y="2999232"/>
            <a:ext cx="1865376" cy="987552"/>
          </a:xfrm>
          <a:prstGeom prst="rect">
            <a:avLst/>
          </a:prstGeom>
          <a:solidFill>
            <a:srgbClr val="1E56A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08776" y="3054096"/>
            <a:ext cx="1755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0488" y="3364991"/>
            <a:ext cx="179222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4A900"/>
                </a:solidFill>
              </a:rPr>
              <a:t>0.9845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9016" y="2999232"/>
            <a:ext cx="1865376" cy="987552"/>
          </a:xfrm>
          <a:prstGeom prst="rect">
            <a:avLst/>
          </a:prstGeom>
          <a:solidFill>
            <a:srgbClr val="1E56A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3054096"/>
            <a:ext cx="1755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Critical Recall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5592" y="3364991"/>
            <a:ext cx="179222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4A900"/>
                </a:solidFill>
              </a:rPr>
              <a:t>70.18%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20" y="2999232"/>
            <a:ext cx="1865376" cy="987552"/>
          </a:xfrm>
          <a:prstGeom prst="rect">
            <a:avLst/>
          </a:prstGeom>
          <a:solidFill>
            <a:srgbClr val="1E56A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58984" y="3054096"/>
            <a:ext cx="1755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Critical Precision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0696" y="3364991"/>
            <a:ext cx="179222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4A900"/>
                </a:solidFill>
              </a:rPr>
              <a:t>82.00%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4096512"/>
            <a:ext cx="5742432" cy="310896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12394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PRE-OPTIMISATION (Default XGBoost)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" y="4480560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Macro-F1:  0.7584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" y="4846320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ROC-AUC:  0.9572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" y="5212080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Accuracy:  86.40%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096512"/>
            <a:ext cx="5742432" cy="310896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412394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POST-OPTIMISATION (Champion — Locked Pipeline)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4480560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540"/>
                </a:solidFill>
              </a:rPr>
              <a:t>  Macro-F1:  0.9412  ( +0.1828  ↑↑ 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4846320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540"/>
                </a:solidFill>
              </a:rPr>
              <a:t>  ROC-AUC:  0.9845  ( +0.0273  ↑ 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5212080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540"/>
                </a:solidFill>
              </a:rPr>
              <a:t>  Accuracy:  94.43%  ( +8.03%  ↑↑ 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5705856"/>
            <a:ext cx="11750040" cy="548640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5742432"/>
            <a:ext cx="11567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4A900"/>
                </a:solidFill>
              </a:rPr>
              <a:t>Academic Integrity Guarantee: Hyperparameter search conducted strictly within 5-fold CV on training data only. Held-out test set was locked in isolation until final one-time evaluation. No p-hacking or test-set tuning.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50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Q6: Controlled Ablation Studies &amp; McNemar Statistical Significance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68096"/>
            <a:ext cx="11750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900"/>
                </a:solidFill>
              </a:rPr>
              <a:t>Speaker 5 – PA Mavhungu  |  Figure 10  |  Verifying Feature Contributions &amp; Model Superiority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43584"/>
            <a:ext cx="12188952" cy="54864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389888"/>
            <a:ext cx="2304288" cy="7132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1426464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ABLATION 1
Remove Telemetry &amp; Asset Age
(load, age, bursts, trips)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139696"/>
            <a:ext cx="2304288" cy="4572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" y="2176272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900"/>
                </a:solidFill>
              </a:rPr>
              <a:t>Macro-F1 DROP:  −0.1058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633472"/>
            <a:ext cx="2304288" cy="859536"/>
          </a:xfrm>
          <a:prstGeom prst="rect">
            <a:avLst/>
          </a:prstGeom>
          <a:solidFill>
            <a:srgbClr val="F2F2F2"/>
          </a:solidFill>
          <a:ln w="63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2688336"/>
            <a:ext cx="21762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Physical telemetry is ESSENTIAL.
Removing live operational data causes critical recall collapse.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42616" y="1389888"/>
            <a:ext cx="2304288" cy="713232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5768" y="1426464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ABLATION 2
Remove Engineered Features
(ISI, SEVR, SAI)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42616" y="2139696"/>
            <a:ext cx="2304288" cy="4572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15768" y="2176272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900"/>
                </a:solidFill>
              </a:rPr>
              <a:t>Macro-F1 DROP:  −0.0211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42616" y="2633472"/>
            <a:ext cx="2304288" cy="859536"/>
          </a:xfrm>
          <a:prstGeom prst="rect">
            <a:avLst/>
          </a:prstGeom>
          <a:solidFill>
            <a:srgbClr val="F2F2F2"/>
          </a:solidFill>
          <a:ln w="6350">
            <a:solidFill>
              <a:srgbClr val="D9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5768" y="2688336"/>
            <a:ext cx="21762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Domain engineering delivers measurable gains.
Interaction terms capture non-linear compounding stress.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56632" y="1389888"/>
            <a:ext cx="2304288" cy="713232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9784" y="1426464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ABLATION 3
Remove Regularisation
(gamma=0, no subsampling)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56632" y="2139696"/>
            <a:ext cx="2304288" cy="4572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9784" y="2176272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A900"/>
                </a:solidFill>
              </a:rPr>
              <a:t>Macro-F1 DROP:  −0.0272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56632" y="2633472"/>
            <a:ext cx="2304288" cy="859536"/>
          </a:xfrm>
          <a:prstGeom prst="rect">
            <a:avLst/>
          </a:prstGeom>
          <a:solidFill>
            <a:srgbClr val="F2F2F2"/>
          </a:solidFill>
          <a:ln w="6350"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9784" y="2688336"/>
            <a:ext cx="217627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Regularisation prevents leaf memorisation.
Unpruned trees over-fit noise and lose minority generalisation.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8" y="138988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35C"/>
                </a:solidFill>
              </a:rPr>
              <a:t>Fig 10: Ablation Macro-F1 Impact</a:t>
            </a:r>
          </a:p>
        </p:txBody>
      </p:sp>
      <p:pic>
        <p:nvPicPr>
          <p:cNvPr id="26" name="Picture 25" descr="fig10_ablation_del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664208"/>
            <a:ext cx="4480560" cy="1847088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228600" y="3602736"/>
            <a:ext cx="11750040" cy="329184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639312"/>
            <a:ext cx="11567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McNEMAR'S EXACT TEST — XGBoost Champion vs Logistic Regression (N = 700 Test Wards)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968496"/>
            <a:ext cx="5742432" cy="2633472"/>
          </a:xfrm>
          <a:prstGeom prst="rect">
            <a:avLst/>
          </a:prstGeom>
          <a:solidFill>
            <a:srgbClr val="F2F2F2"/>
          </a:solidFill>
          <a:ln w="6350">
            <a:solidFill>
              <a:srgbClr val="0D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4041648"/>
            <a:ext cx="18470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35C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39696" y="4041648"/>
            <a:ext cx="18470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35C"/>
                </a:solidFill>
              </a:rPr>
              <a:t>LR Correct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4041648"/>
            <a:ext cx="18470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35C"/>
                </a:solidFill>
              </a:rPr>
              <a:t>LR Incorrect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" y="4846320"/>
            <a:ext cx="18470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35C"/>
                </a:solidFill>
              </a:rPr>
              <a:t>XGB Correct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39696" y="4846320"/>
            <a:ext cx="18470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n₀₀ = 573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4846320"/>
            <a:ext cx="18470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n₀₁ = 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" y="5650992"/>
            <a:ext cx="18470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35C"/>
                </a:solidFill>
              </a:rPr>
              <a:t>XGB Incorrect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39696" y="5650992"/>
            <a:ext cx="18470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n₁₀ = 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5650992"/>
            <a:ext cx="18470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n₁₁ = 38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968496"/>
            <a:ext cx="5742432" cy="2633472"/>
          </a:xfrm>
          <a:prstGeom prst="rect">
            <a:avLst/>
          </a:prstGeom>
          <a:solidFill>
            <a:srgbClr val="F2F2F2"/>
          </a:solidFill>
          <a:ln w="6350">
            <a:solidFill>
              <a:srgbClr val="0D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402336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35C"/>
                </a:solidFill>
              </a:rPr>
              <a:t>TEST RESULT: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315968"/>
            <a:ext cx="5577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0000"/>
                </a:solidFill>
              </a:rPr>
              <a:t>χ² (corrected) = 0.000
Exact p-value = 1.000
α = 0.05  →  Fail to reject H₀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102352"/>
            <a:ext cx="55778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Interpretation: Discordant errors are balanced (45 vs 44). Marginal error rates are statistically indistinguishable. XGBoost delivers superior PRACTICAL performance via higher critical recall on minority Tier 2 wards.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50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Q7: Production Deployment — Interactive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68096"/>
            <a:ext cx="11750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900"/>
                </a:solidFill>
              </a:rPr>
              <a:t>Speaker 5 – PA Mavhungu  |  Gradio + Streamlit Cloud  |  POPIA-Compliant Advisory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43584"/>
            <a:ext cx="12188952" cy="54864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389888"/>
            <a:ext cx="11750040" cy="347472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26464"/>
            <a:ext cx="1156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4A900"/>
                </a:solidFill>
              </a:rPr>
              <a:t>Champion pipeline serialised →  models/champion_pipeline.joblib  |  Served via Gradio (local) &amp; Streamlit Cloud (public shareable link)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865376"/>
            <a:ext cx="3675887" cy="347472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901952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17-Feature Input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31136"/>
            <a:ext cx="3675887" cy="1481328"/>
          </a:xfrm>
          <a:prstGeom prst="rect">
            <a:avLst/>
          </a:prstGeom>
          <a:solidFill>
            <a:srgbClr val="F2F2F2"/>
          </a:solidFill>
          <a:ln w="5080"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304288"/>
            <a:ext cx="35112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Validated sliders &amp; dropdowns
for all ward infrastructure indicators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865376"/>
            <a:ext cx="3675887" cy="347472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901952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Instant 3-Tier Prediction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2231136"/>
            <a:ext cx="3675887" cy="1481328"/>
          </a:xfrm>
          <a:prstGeom prst="rect">
            <a:avLst/>
          </a:prstGeom>
          <a:solidFill>
            <a:srgbClr val="F2F2F2"/>
          </a:solidFill>
          <a:ln w="5080"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2304288"/>
            <a:ext cx="35112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Tier badge (🟢🟡🔴) + confidence
probabilities + probability bar chart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865376"/>
            <a:ext cx="3675887" cy="347472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901952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Plain-Language Action Plans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2231136"/>
            <a:ext cx="3675887" cy="1481328"/>
          </a:xfrm>
          <a:prstGeom prst="rect">
            <a:avLst/>
          </a:prstGeom>
          <a:solidFill>
            <a:srgbClr val="F2F2F2"/>
          </a:solidFill>
          <a:ln w="5080"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2304288"/>
            <a:ext cx="35112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Tier-specific municipal action protocol:
Dispatch crews, pre-position tankers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096512"/>
            <a:ext cx="3675887" cy="347472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133088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Input Validation &amp; Errors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462272"/>
            <a:ext cx="3675887" cy="1481328"/>
          </a:xfrm>
          <a:prstGeom prst="rect">
            <a:avLst/>
          </a:prstGeom>
          <a:solidFill>
            <a:srgbClr val="F2F2F2"/>
          </a:solidFill>
          <a:ln w="5080"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535424"/>
            <a:ext cx="35112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Rejects negatives, invalid %,
blank fields — user-friendly guidance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4096512"/>
            <a:ext cx="3675887" cy="347472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59" y="4133088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POPIA Compliance Notice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4462272"/>
            <a:ext cx="3675887" cy="1481328"/>
          </a:xfrm>
          <a:prstGeom prst="rect">
            <a:avLst/>
          </a:prstGeom>
          <a:solidFill>
            <a:srgbClr val="F2F2F2"/>
          </a:solidFill>
          <a:ln w="5080"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59" y="4535424"/>
            <a:ext cx="35112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No PII collected, no individual data
logged — ward-level spatial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4096512"/>
            <a:ext cx="3675887" cy="347472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4133088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Live Streamlit Cloud URL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4462272"/>
            <a:ext cx="3675887" cy="1481328"/>
          </a:xfrm>
          <a:prstGeom prst="rect">
            <a:avLst/>
          </a:prstGeom>
          <a:solidFill>
            <a:srgbClr val="F2F2F2"/>
          </a:solidFill>
          <a:ln w="5080"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4535424"/>
            <a:ext cx="35112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Public link for team &amp; examiners
Any browser, no installation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6455664"/>
            <a:ext cx="11750040" cy="310896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6492240"/>
            <a:ext cx="11567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GitHub: mrTruth-code/South-African-Municipal-Service-Delivery-Risk-Triage-System  |  Streamlit Cloud: DEPLOYED &amp; LIVE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50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Q8: Policy Recommendations &amp; Future Research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68096"/>
            <a:ext cx="11750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900"/>
                </a:solidFill>
              </a:rPr>
              <a:t>Speaker 5 – PA Mavhungu  |  Translating ML Insights into Government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43584"/>
            <a:ext cx="12188952" cy="54864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444752"/>
            <a:ext cx="548640" cy="1207008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" y="1755648"/>
            <a:ext cx="4937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" y="1444752"/>
            <a:ext cx="5248656" cy="365760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481328"/>
            <a:ext cx="5084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Infrastructure Renewal Grant Conditionality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1828800"/>
            <a:ext cx="5248656" cy="822960"/>
          </a:xfrm>
          <a:prstGeom prst="rect">
            <a:avLst/>
          </a:prstGeom>
          <a:solidFill>
            <a:srgbClr val="F2F2F2"/>
          </a:solidFill>
          <a:ln w="5080">
            <a:solidFill>
              <a:srgbClr val="0D2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883664"/>
            <a:ext cx="50840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Condition Municipal Infrastructure Grant (MIG) capital allocation on objective pipe network age (&gt;35 years). Wards exceeding this threshold qualify automatically for priority renewal funding.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2487168"/>
            <a:ext cx="5248656" cy="182880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505456"/>
            <a:ext cx="50840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Stakeholder: COGTA / National Treasury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1444752"/>
            <a:ext cx="548640" cy="1207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755648"/>
            <a:ext cx="4937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444752"/>
            <a:ext cx="5248656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1481328"/>
            <a:ext cx="5084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Heatwave Emergency Pre-Positioning Protocol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1828800"/>
            <a:ext cx="5248656" cy="822960"/>
          </a:xfrm>
          <a:prstGeom prst="rect">
            <a:avLst/>
          </a:prstGeom>
          <a:solidFill>
            <a:srgbClr val="F2F2F2"/>
          </a:solidFill>
          <a:ln w="508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1883664"/>
            <a:ext cx="50840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Stage bulk water tankers in Tier 2 wards 48 hours before confirmed heatwave events. Coordinate with SAWS 5-day weather advisory for trigger conditions.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2487168"/>
            <a:ext cx="5248656" cy="1828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2505456"/>
            <a:ext cx="50840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Stakeholder: Municipal Disaster Management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041648"/>
            <a:ext cx="548640" cy="1207008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" y="4352544"/>
            <a:ext cx="4937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4041648"/>
            <a:ext cx="5248656" cy="365760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4078224"/>
            <a:ext cx="5084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Automated Substation Load Shedding Alert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" y="4425696"/>
            <a:ext cx="5248656" cy="822960"/>
          </a:xfrm>
          <a:prstGeom prst="rect">
            <a:avLst/>
          </a:prstGeom>
          <a:solidFill>
            <a:srgbClr val="F2F2F2"/>
          </a:solidFill>
          <a:ln w="5080">
            <a:solidFill>
              <a:srgbClr val="D9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4480560"/>
            <a:ext cx="50840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Deploy SCADA-integrated automated shedding alerts when substation load exceeds 1.25×. Reroute feeders to alternative grid paths before catastrophic transformer burnout.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" y="5084064"/>
            <a:ext cx="5248656" cy="182880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5102352"/>
            <a:ext cx="50840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Stakeholder: Eskom / City Power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352" y="4041648"/>
            <a:ext cx="548640" cy="1207008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4352544"/>
            <a:ext cx="4937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12280" y="4041648"/>
            <a:ext cx="5248656" cy="36576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4078224"/>
            <a:ext cx="5084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30-Day Rolling Ward Risk Scoring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12280" y="4425696"/>
            <a:ext cx="5248656" cy="822960"/>
          </a:xfrm>
          <a:prstGeom prst="rect">
            <a:avLst/>
          </a:prstGeom>
          <a:solidFill>
            <a:srgbClr val="F2F2F2"/>
          </a:solidFill>
          <a:ln w="5080">
            <a:solidFill>
              <a:srgbClr val="00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4480560"/>
            <a:ext cx="50840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Operationalise this triage system as a live monthly GIS dashboard. Auto-generate dispatch work orders for Tier 2 wards via SAP/GIS integration.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12280" y="5084064"/>
            <a:ext cx="5248656" cy="18288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3720" y="5102352"/>
            <a:ext cx="50840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Stakeholder: Municipal Directors of Infrastructure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750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04672"/>
            <a:ext cx="1175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A900"/>
                </a:solidFill>
              </a:rPr>
              <a:t>4 Verification Test Cases  |  Speaker 5 (PA Mavhungu) + Team  |  Minutes 30:00 – 35:00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81328"/>
            <a:ext cx="5742432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1790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TEST CASE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847088"/>
            <a:ext cx="5742432" cy="2139696"/>
          </a:xfrm>
          <a:prstGeom prst="rect">
            <a:avLst/>
          </a:prstGeom>
          <a:solidFill>
            <a:srgbClr val="142C6E"/>
          </a:solidFill>
          <a:ln w="1016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20240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A900"/>
                </a:solidFill>
              </a:rPr>
              <a:t>Inputs:  Gauteng | Informal | Load 1.35 | 14 trips | Protests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8600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EXPECTED:  🔴  TIER 2 — CRITICAL OUTAGE RISK  (&gt;98% confidence)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76148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2F2F2"/>
                </a:solidFill>
              </a:rPr>
              <a:t>Action:  Emergency deployment within 24–48 hours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481328"/>
            <a:ext cx="5742432" cy="347472"/>
          </a:xfrm>
          <a:prstGeom prst="rect">
            <a:avLst/>
          </a:prstGeom>
          <a:solidFill>
            <a:srgbClr val="007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51790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TEST CASE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847088"/>
            <a:ext cx="5742432" cy="2139696"/>
          </a:xfrm>
          <a:prstGeom prst="rect">
            <a:avLst/>
          </a:prstGeom>
          <a:solidFill>
            <a:srgbClr val="142C6E"/>
          </a:solidFill>
          <a:ln w="10160">
            <a:solidFill>
              <a:srgbClr val="007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920240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A900"/>
                </a:solidFill>
              </a:rPr>
              <a:t>Inputs:  Western Cape | Formal | 98% piped water | Load 0.65 | 1 burst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28600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EXPECTED:  🟢  TIER 0 — LOW RISK  (~100% confidence)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76148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2F2F2"/>
                </a:solidFill>
              </a:rPr>
              <a:t>Action:  Routine 60-day scheduled maintenance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224528"/>
            <a:ext cx="5742432" cy="347472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26110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TEST CASE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590288"/>
            <a:ext cx="5742432" cy="2139696"/>
          </a:xfrm>
          <a:prstGeom prst="rect">
            <a:avLst/>
          </a:prstGeom>
          <a:solidFill>
            <a:srgbClr val="142C6E"/>
          </a:solidFill>
          <a:ln w="10160">
            <a:solidFill>
              <a:srgbClr val="D9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663440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A900"/>
                </a:solidFill>
              </a:rPr>
              <a:t>Inputs:  Eastern Cape | Peri-Urban | Age 38yr | Load 0.98 | 12 bursts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02920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EXPECTED:  🟡  TIER 1 — MODERATE VULNERABILITY  (~95% confidence)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50468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2F2F2"/>
                </a:solidFill>
              </a:rPr>
              <a:t>Action:  14-day proactive engineering inspection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4224528"/>
            <a:ext cx="5742432" cy="347472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426110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TEST CASE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4590288"/>
            <a:ext cx="5742432" cy="2139696"/>
          </a:xfrm>
          <a:prstGeom prst="rect">
            <a:avLst/>
          </a:prstGeom>
          <a:solidFill>
            <a:srgbClr val="142C6E"/>
          </a:solidFill>
          <a:ln w="10160">
            <a:solidFill>
              <a:srgbClr val="1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4663440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A900"/>
                </a:solidFill>
              </a:rPr>
              <a:t>Inputs:  INPUT VALIDATION:  pop_density = −500  |  informal_pct = 145%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502920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EXPECTED:  ⚠️  INPUT VALIDATION FAILED — graceful error messages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550468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2F2F2"/>
                </a:solidFill>
              </a:rPr>
              <a:t>Action:  No system crash — error handling demonstrated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11750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Summary — All Q1–Q8 Marking Criteria Addressed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68096"/>
            <a:ext cx="11750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900"/>
                </a:solidFill>
              </a:rPr>
              <a:t>Complete Reproducible Submission Package  |  Technical Report + Code + Evidence Bundle +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43584"/>
            <a:ext cx="12188952" cy="54864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426464"/>
            <a:ext cx="603504" cy="475488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" y="1481328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1426464"/>
            <a:ext cx="603504" cy="475488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481328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35C"/>
                </a:solidFill>
              </a:rPr>
              <a:t>10M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9616" y="1426464"/>
            <a:ext cx="2103120" cy="47548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72768" y="14813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Problem Framing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30168" y="1426464"/>
            <a:ext cx="73152" cy="475488"/>
          </a:xfrm>
          <a:prstGeom prst="rect">
            <a:avLst/>
          </a:prstGeom>
          <a:solidFill>
            <a:srgbClr val="007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30752" y="1426464"/>
            <a:ext cx="8229600" cy="475488"/>
          </a:xfrm>
          <a:prstGeom prst="rect">
            <a:avLst/>
          </a:prstGeom>
          <a:solidFill>
            <a:srgbClr val="F2F2F2"/>
          </a:solidFill>
          <a:ln w="3810">
            <a:solidFill>
              <a:srgbClr val="007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22191" y="1481328"/>
            <a:ext cx="8083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✅  SA constitutional mandate → 3-tier classification → Asymmetric cost matrix → POPIA safeguards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956816"/>
            <a:ext cx="603504" cy="475488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" y="2011680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" y="1956816"/>
            <a:ext cx="603504" cy="475488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2011680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35C"/>
                </a:solidFill>
              </a:rPr>
              <a:t>18M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99616" y="1956816"/>
            <a:ext cx="2103120" cy="47548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72768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Data Audit &amp; EDA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30168" y="1956816"/>
            <a:ext cx="73152" cy="475488"/>
          </a:xfrm>
          <a:prstGeom prst="rect">
            <a:avLst/>
          </a:prstGeom>
          <a:solidFill>
            <a:srgbClr val="007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30752" y="1956816"/>
            <a:ext cx="8229600" cy="475488"/>
          </a:xfrm>
          <a:prstGeom prst="rect">
            <a:avLst/>
          </a:prstGeom>
          <a:solidFill>
            <a:srgbClr val="F2F2F2"/>
          </a:solidFill>
          <a:ln w="3810">
            <a:solidFill>
              <a:srgbClr val="007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22191" y="2011680"/>
            <a:ext cx="8083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✅  3,500 wards audited → Split-before-fit → 5 EDA figures → Data dictionary → Missingness handled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487168"/>
            <a:ext cx="603504" cy="475488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" y="2542032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" y="2487168"/>
            <a:ext cx="603504" cy="475488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2542032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35C"/>
                </a:solidFill>
              </a:rPr>
              <a:t>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99616" y="2487168"/>
            <a:ext cx="2103120" cy="47548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72768" y="25420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30168" y="2487168"/>
            <a:ext cx="73152" cy="475488"/>
          </a:xfrm>
          <a:prstGeom prst="rect">
            <a:avLst/>
          </a:prstGeom>
          <a:solidFill>
            <a:srgbClr val="007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0752" y="2487168"/>
            <a:ext cx="8229600" cy="475488"/>
          </a:xfrm>
          <a:prstGeom prst="rect">
            <a:avLst/>
          </a:prstGeom>
          <a:solidFill>
            <a:srgbClr val="F2F2F2"/>
          </a:solidFill>
          <a:ln w="3810">
            <a:solidFill>
              <a:srgbClr val="007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22191" y="2542032"/>
            <a:ext cx="8083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✅  3 domain features: ISI, SEVR, SAI → Ablation-validated → Removes reporting privilege bias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3017520"/>
            <a:ext cx="603504" cy="475488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6888" y="3072384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9536" y="3017520"/>
            <a:ext cx="603504" cy="475488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3072384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35C"/>
                </a:solidFill>
              </a:rPr>
              <a:t>23M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99616" y="3017520"/>
            <a:ext cx="2103120" cy="47548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30723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Model Zoo (5 models)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30168" y="3017520"/>
            <a:ext cx="73152" cy="475488"/>
          </a:xfrm>
          <a:prstGeom prst="rect">
            <a:avLst/>
          </a:prstGeom>
          <a:solidFill>
            <a:srgbClr val="007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30752" y="3017520"/>
            <a:ext cx="8229600" cy="475488"/>
          </a:xfrm>
          <a:prstGeom prst="rect">
            <a:avLst/>
          </a:prstGeom>
          <a:solidFill>
            <a:srgbClr val="F2F2F2"/>
          </a:solidFill>
          <a:ln w="3810">
            <a:solidFill>
              <a:srgbClr val="007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22191" y="3072384"/>
            <a:ext cx="8083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✅  Naive baseline + LR + XGBoost + MLP + PyTorch ResNet → Identical 5-fold CV protocol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3547872"/>
            <a:ext cx="603504" cy="475488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6888" y="3602736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6" y="3547872"/>
            <a:ext cx="603504" cy="475488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3602736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35C"/>
                </a:solidFill>
              </a:rPr>
              <a:t>29M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99616" y="3547872"/>
            <a:ext cx="2103120" cy="47548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72768" y="360273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Model Evaluation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30168" y="3547872"/>
            <a:ext cx="73152" cy="475488"/>
          </a:xfrm>
          <a:prstGeom prst="rect">
            <a:avLst/>
          </a:prstGeom>
          <a:solidFill>
            <a:srgbClr val="007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30752" y="3547872"/>
            <a:ext cx="8229600" cy="475488"/>
          </a:xfrm>
          <a:prstGeom prst="rect">
            <a:avLst/>
          </a:prstGeom>
          <a:solidFill>
            <a:srgbClr val="F2F2F2"/>
          </a:solidFill>
          <a:ln w="3810">
            <a:solidFill>
              <a:srgbClr val="007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22191" y="3602736"/>
            <a:ext cx="8083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✅  Acc / Macro-F1 / ROC-AUC / PR-AUC → Overfitting diagnosed → Learning curves → Confusion matrices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4078224"/>
            <a:ext cx="603504" cy="475488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4133087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" y="4078224"/>
            <a:ext cx="603504" cy="475488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824" y="4133087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35C"/>
                </a:solidFill>
              </a:rPr>
              <a:t>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99616" y="4078224"/>
            <a:ext cx="2103120" cy="47548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72768" y="4133087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Champion Optimisation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30168" y="4078224"/>
            <a:ext cx="73152" cy="475488"/>
          </a:xfrm>
          <a:prstGeom prst="rect">
            <a:avLst/>
          </a:prstGeom>
          <a:solidFill>
            <a:srgbClr val="007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30752" y="4078224"/>
            <a:ext cx="8229600" cy="475488"/>
          </a:xfrm>
          <a:prstGeom prst="rect">
            <a:avLst/>
          </a:prstGeom>
          <a:solidFill>
            <a:srgbClr val="F2F2F2"/>
          </a:solidFill>
          <a:ln w="3810">
            <a:solidFill>
              <a:srgbClr val="007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22191" y="4133087"/>
            <a:ext cx="8083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✅  RandomizedSearchCV (20 iter, 5-fold) → Locked test: F1=0.9412, AUC=0.9845, Acc=94.43%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4608575"/>
            <a:ext cx="603504" cy="475488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46888" y="4663439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9536" y="4608575"/>
            <a:ext cx="603504" cy="475488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7824" y="4663439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35C"/>
                </a:solidFill>
              </a:rPr>
              <a:t>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499616" y="4608575"/>
            <a:ext cx="2103120" cy="47548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72768" y="46634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Ablations &amp; McNemar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30168" y="4608575"/>
            <a:ext cx="73152" cy="475488"/>
          </a:xfrm>
          <a:prstGeom prst="rect">
            <a:avLst/>
          </a:prstGeom>
          <a:solidFill>
            <a:srgbClr val="007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730752" y="4608575"/>
            <a:ext cx="8229600" cy="475488"/>
          </a:xfrm>
          <a:prstGeom prst="rect">
            <a:avLst/>
          </a:prstGeom>
          <a:solidFill>
            <a:srgbClr val="F2F2F2"/>
          </a:solidFill>
          <a:ln w="3810">
            <a:solidFill>
              <a:srgbClr val="007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22191" y="4663439"/>
            <a:ext cx="8083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✅  3 controlled ablations → McNemar exact (p=1.00) → Statistical scientific integrity maintained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" y="5138927"/>
            <a:ext cx="603504" cy="475488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6888" y="5193791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9536" y="5138927"/>
            <a:ext cx="603504" cy="475488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7824" y="5193791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35C"/>
                </a:solidFill>
              </a:rPr>
              <a:t>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499616" y="5138927"/>
            <a:ext cx="2103120" cy="47548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572768" y="519379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Production Deployment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30168" y="5138927"/>
            <a:ext cx="73152" cy="475488"/>
          </a:xfrm>
          <a:prstGeom prst="rect">
            <a:avLst/>
          </a:prstGeom>
          <a:solidFill>
            <a:srgbClr val="007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30752" y="5138927"/>
            <a:ext cx="8229600" cy="475488"/>
          </a:xfrm>
          <a:prstGeom prst="rect">
            <a:avLst/>
          </a:prstGeom>
          <a:solidFill>
            <a:srgbClr val="F2F2F2"/>
          </a:solidFill>
          <a:ln w="3810">
            <a:solidFill>
              <a:srgbClr val="007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822191" y="5193791"/>
            <a:ext cx="8083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✅  Gradio + Streamlit Cloud → Input validation → POPIA notice → Public share link live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" y="5669279"/>
            <a:ext cx="603504" cy="475488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46888" y="5724143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9536" y="5669279"/>
            <a:ext cx="603504" cy="475488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77824" y="5724143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35C"/>
                </a:solidFill>
              </a:rPr>
              <a:t>20M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499616" y="5669279"/>
            <a:ext cx="2103120" cy="475488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72768" y="5724143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Policy Recommendations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30168" y="5669279"/>
            <a:ext cx="73152" cy="475488"/>
          </a:xfrm>
          <a:prstGeom prst="rect">
            <a:avLst/>
          </a:prstGeom>
          <a:solidFill>
            <a:srgbClr val="007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730752" y="5669279"/>
            <a:ext cx="8229600" cy="475488"/>
          </a:xfrm>
          <a:prstGeom prst="rect">
            <a:avLst/>
          </a:prstGeom>
          <a:solidFill>
            <a:srgbClr val="F2F2F2"/>
          </a:solidFill>
          <a:ln w="3810">
            <a:solidFill>
              <a:srgbClr val="007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822191" y="5724143"/>
            <a:ext cx="8083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✅  4 actionable government policies: MIG conditionality, pre-positioning, SCADA automation, dashboard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4A900"/>
                </a:solidFill>
              </a:rPr>
              <a:t>Municipal Basic Service-Delivery Outage &amp; Infrastructure Vulnerability Triage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1082528" cy="36576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✅  3,500 municipal wards spanning all 9 South African provinces — fully audited and leakage-free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70048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✅  5 ML architectures trained, evaluated, and benchmarked on identical 5-fold cross-validation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45536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✅  XGBoost Champion:  Macro-F1 = 0.9412  |  ROC-AUC = 0.9845  |  Test Accuracy = 94.43%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21024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✅  McNemar exact test confirms statistical integrity — no p-hacking or test-set 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96512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✅  Deployed on Streamlit Cloud — public shareable link for municipal planners &amp; examiners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663440"/>
            <a:ext cx="11082528" cy="36576"/>
          </a:xfrm>
          <a:prstGeom prst="rect">
            <a:avLst/>
          </a:prstGeom>
          <a:solidFill>
            <a:srgbClr val="F4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80974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4A900"/>
                </a:solidFill>
              </a:rPr>
              <a:t>We are happy to address any questions from the examination panel.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40096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2F2F2"/>
                </a:solidFill>
              </a:rPr>
              <a:t>MM Masemola #218615937  ·  B Mdluli #222012937  ·  M Mammburu #219952058  ·  ME Maleke #219868499  ·  PA Mavhungu #220527930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8134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235C"/>
                </a:solidFill>
              </a:rPr>
              <a:t>Introduction to Data Science (IDA117V)  |  Second Semester 2026  |  Group Project — 100 Marks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